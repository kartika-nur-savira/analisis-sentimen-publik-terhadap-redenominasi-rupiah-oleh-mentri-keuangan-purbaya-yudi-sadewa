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Inter" charset="1" panose="020B0502030000000004"/>
      <p:regular r:id="rId26"/>
    </p:embeddedFont>
    <p:embeddedFont>
      <p:font typeface="Poppins Italic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6007815" y="554594"/>
            <a:ext cx="6272369" cy="8761135"/>
          </a:xfrm>
          <a:custGeom>
            <a:avLst/>
            <a:gdLst/>
            <a:ahLst/>
            <a:cxnLst/>
            <a:rect r="r" b="b" t="t" l="l"/>
            <a:pathLst>
              <a:path h="8761135" w="6272369">
                <a:moveTo>
                  <a:pt x="0" y="0"/>
                </a:moveTo>
                <a:lnTo>
                  <a:pt x="6272370" y="0"/>
                </a:lnTo>
                <a:lnTo>
                  <a:pt x="6272370" y="8761136"/>
                </a:lnTo>
                <a:lnTo>
                  <a:pt x="0" y="876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967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3859" y="301930"/>
            <a:ext cx="16460283" cy="9266464"/>
          </a:xfrm>
          <a:custGeom>
            <a:avLst/>
            <a:gdLst/>
            <a:ahLst/>
            <a:cxnLst/>
            <a:rect r="r" b="b" t="t" l="l"/>
            <a:pathLst>
              <a:path h="9266464" w="16460283">
                <a:moveTo>
                  <a:pt x="0" y="0"/>
                </a:moveTo>
                <a:lnTo>
                  <a:pt x="16460282" y="0"/>
                </a:lnTo>
                <a:lnTo>
                  <a:pt x="16460282" y="9266464"/>
                </a:lnTo>
                <a:lnTo>
                  <a:pt x="0" y="9266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9" t="-3417" r="-18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6870" y="2617532"/>
            <a:ext cx="15814669" cy="545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21"/>
              </a:lnSpc>
              <a:spcBef>
                <a:spcPct val="0"/>
              </a:spcBef>
            </a:pPr>
            <a:r>
              <a:rPr lang="en-US" b="true" sz="6157" spc="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SENTIMEN PUBLIK TERHADAP KEBIJAKAN REDENOMINASI RUPIAH OLEH MENTERI KEUANGAN PURBAYA YUDHI SADEWA PADA PLATFORM YOUTUBE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998" y="9405272"/>
            <a:ext cx="17728583" cy="125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390" spc="-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Kartika Nur Savira (24031554049)</a:t>
            </a:r>
          </a:p>
          <a:p>
            <a:pPr algn="l">
              <a:lnSpc>
                <a:spcPts val="3347"/>
              </a:lnSpc>
            </a:pPr>
          </a:p>
          <a:p>
            <a:pPr algn="l">
              <a:lnSpc>
                <a:spcPts val="334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8649" y="3214627"/>
            <a:ext cx="13170701" cy="2057400"/>
            <a:chOff x="0" y="0"/>
            <a:chExt cx="3468827" cy="541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68827" cy="541867"/>
            </a:xfrm>
            <a:custGeom>
              <a:avLst/>
              <a:gdLst/>
              <a:ahLst/>
              <a:cxnLst/>
              <a:rect r="r" b="b" t="t" l="l"/>
              <a:pathLst>
                <a:path h="541867" w="3468827">
                  <a:moveTo>
                    <a:pt x="20573" y="0"/>
                  </a:moveTo>
                  <a:lnTo>
                    <a:pt x="3448253" y="0"/>
                  </a:lnTo>
                  <a:cubicBezTo>
                    <a:pt x="3459616" y="0"/>
                    <a:pt x="3468827" y="9211"/>
                    <a:pt x="3468827" y="20573"/>
                  </a:cubicBezTo>
                  <a:lnTo>
                    <a:pt x="3468827" y="521293"/>
                  </a:lnTo>
                  <a:cubicBezTo>
                    <a:pt x="3468827" y="526750"/>
                    <a:pt x="3466659" y="531983"/>
                    <a:pt x="3462801" y="535841"/>
                  </a:cubicBezTo>
                  <a:cubicBezTo>
                    <a:pt x="3458942" y="539699"/>
                    <a:pt x="3453710" y="541867"/>
                    <a:pt x="3448253" y="541867"/>
                  </a:cubicBezTo>
                  <a:lnTo>
                    <a:pt x="20573" y="541867"/>
                  </a:lnTo>
                  <a:cubicBezTo>
                    <a:pt x="9211" y="541867"/>
                    <a:pt x="0" y="532656"/>
                    <a:pt x="0" y="521293"/>
                  </a:cubicBezTo>
                  <a:lnTo>
                    <a:pt x="0" y="20573"/>
                  </a:lnTo>
                  <a:cubicBezTo>
                    <a:pt x="0" y="15117"/>
                    <a:pt x="2168" y="9884"/>
                    <a:pt x="6026" y="6026"/>
                  </a:cubicBezTo>
                  <a:cubicBezTo>
                    <a:pt x="9884" y="2168"/>
                    <a:pt x="15117" y="0"/>
                    <a:pt x="205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68827" cy="59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5676" y="2462540"/>
            <a:ext cx="5466522" cy="4114800"/>
          </a:xfrm>
          <a:custGeom>
            <a:avLst/>
            <a:gdLst/>
            <a:ahLst/>
            <a:cxnLst/>
            <a:rect r="r" b="b" t="t" l="l"/>
            <a:pathLst>
              <a:path h="4114800" w="5466522">
                <a:moveTo>
                  <a:pt x="0" y="0"/>
                </a:moveTo>
                <a:lnTo>
                  <a:pt x="5466521" y="0"/>
                </a:lnTo>
                <a:lnTo>
                  <a:pt x="54665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81179" y="633618"/>
            <a:ext cx="1919429" cy="566532"/>
            <a:chOff x="0" y="0"/>
            <a:chExt cx="2559239" cy="75537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559239" cy="755376"/>
              <a:chOff x="0" y="0"/>
              <a:chExt cx="505529" cy="1492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56468" y="0"/>
                    </a:moveTo>
                    <a:lnTo>
                      <a:pt x="449060" y="0"/>
                    </a:lnTo>
                    <a:cubicBezTo>
                      <a:pt x="464037" y="0"/>
                      <a:pt x="478400" y="5949"/>
                      <a:pt x="488990" y="16539"/>
                    </a:cubicBezTo>
                    <a:cubicBezTo>
                      <a:pt x="499579" y="27129"/>
                      <a:pt x="505529" y="41492"/>
                      <a:pt x="505529" y="56468"/>
                    </a:cubicBezTo>
                    <a:lnTo>
                      <a:pt x="505529" y="92742"/>
                    </a:lnTo>
                    <a:cubicBezTo>
                      <a:pt x="505529" y="107718"/>
                      <a:pt x="499579" y="122081"/>
                      <a:pt x="488990" y="132671"/>
                    </a:cubicBezTo>
                    <a:cubicBezTo>
                      <a:pt x="478400" y="143261"/>
                      <a:pt x="464037" y="149210"/>
                      <a:pt x="449060" y="149210"/>
                    </a:cubicBezTo>
                    <a:lnTo>
                      <a:pt x="56468" y="149210"/>
                    </a:lnTo>
                    <a:cubicBezTo>
                      <a:pt x="41492" y="149210"/>
                      <a:pt x="27129" y="143261"/>
                      <a:pt x="16539" y="132671"/>
                    </a:cubicBezTo>
                    <a:cubicBezTo>
                      <a:pt x="5949" y="122081"/>
                      <a:pt x="0" y="107718"/>
                      <a:pt x="0" y="92742"/>
                    </a:cubicBezTo>
                    <a:lnTo>
                      <a:pt x="0" y="56468"/>
                    </a:lnTo>
                    <a:cubicBezTo>
                      <a:pt x="0" y="41492"/>
                      <a:pt x="5949" y="27129"/>
                      <a:pt x="16539" y="16539"/>
                    </a:cubicBezTo>
                    <a:cubicBezTo>
                      <a:pt x="27129" y="5949"/>
                      <a:pt x="41492" y="0"/>
                      <a:pt x="5646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100000">
                    <a:srgbClr val="E000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2093" y="109293"/>
              <a:ext cx="189505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Page 02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16338" y="3655634"/>
            <a:ext cx="11484177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erkembangan teknologi digital dan media sosial seperti YouTube telah memberikan ruang untuk mengekspresikan tanggapan dan kritik terhadap isu publik, contohnya seperti kebijakan untuk meredenominasi rupiah.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89281" y="1599963"/>
            <a:ext cx="11311235" cy="118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96"/>
              </a:lnSpc>
            </a:pPr>
            <a:r>
              <a:rPr lang="en-US" b="true" sz="7675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sp>
        <p:nvSpPr>
          <p:cNvPr name="Freeform 17" id="17"/>
          <p:cNvSpPr/>
          <p:nvPr/>
        </p:nvSpPr>
        <p:spPr>
          <a:xfrm flipH="false" flipV="true" rot="0">
            <a:off x="-3980830" y="4161652"/>
            <a:ext cx="5466522" cy="4114800"/>
          </a:xfrm>
          <a:custGeom>
            <a:avLst/>
            <a:gdLst/>
            <a:ahLst/>
            <a:cxnLst/>
            <a:rect r="r" b="b" t="t" l="l"/>
            <a:pathLst>
              <a:path h="4114800" w="5466522">
                <a:moveTo>
                  <a:pt x="0" y="4114800"/>
                </a:moveTo>
                <a:lnTo>
                  <a:pt x="5466521" y="4114800"/>
                </a:lnTo>
                <a:lnTo>
                  <a:pt x="546652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558649" y="5445382"/>
            <a:ext cx="13170701" cy="2057400"/>
            <a:chOff x="0" y="0"/>
            <a:chExt cx="3468827" cy="5418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68827" cy="541867"/>
            </a:xfrm>
            <a:custGeom>
              <a:avLst/>
              <a:gdLst/>
              <a:ahLst/>
              <a:cxnLst/>
              <a:rect r="r" b="b" t="t" l="l"/>
              <a:pathLst>
                <a:path h="541867" w="3468827">
                  <a:moveTo>
                    <a:pt x="20573" y="0"/>
                  </a:moveTo>
                  <a:lnTo>
                    <a:pt x="3448253" y="0"/>
                  </a:lnTo>
                  <a:cubicBezTo>
                    <a:pt x="3459616" y="0"/>
                    <a:pt x="3468827" y="9211"/>
                    <a:pt x="3468827" y="20573"/>
                  </a:cubicBezTo>
                  <a:lnTo>
                    <a:pt x="3468827" y="521293"/>
                  </a:lnTo>
                  <a:cubicBezTo>
                    <a:pt x="3468827" y="526750"/>
                    <a:pt x="3466659" y="531983"/>
                    <a:pt x="3462801" y="535841"/>
                  </a:cubicBezTo>
                  <a:cubicBezTo>
                    <a:pt x="3458942" y="539699"/>
                    <a:pt x="3453710" y="541867"/>
                    <a:pt x="3448253" y="541867"/>
                  </a:cubicBezTo>
                  <a:lnTo>
                    <a:pt x="20573" y="541867"/>
                  </a:lnTo>
                  <a:cubicBezTo>
                    <a:pt x="9211" y="541867"/>
                    <a:pt x="0" y="532656"/>
                    <a:pt x="0" y="521293"/>
                  </a:cubicBezTo>
                  <a:lnTo>
                    <a:pt x="0" y="20573"/>
                  </a:lnTo>
                  <a:cubicBezTo>
                    <a:pt x="0" y="15117"/>
                    <a:pt x="2168" y="9884"/>
                    <a:pt x="6026" y="6026"/>
                  </a:cubicBezTo>
                  <a:cubicBezTo>
                    <a:pt x="9884" y="2168"/>
                    <a:pt x="15117" y="0"/>
                    <a:pt x="205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468827" cy="59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316338" y="5669023"/>
            <a:ext cx="11484177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etiap kebijakan atau pernyataan yang disampaikan oleh pak Purbaya Yudhi Sadewa sering kali menimbulkan berbagai reaksi dari masyarakat, baik positif, netral, maupun negatif. Reaksi-reaksi tersebut penting untuk dianalisis agar dapat diketahui bagaimana persepsi publik terhadap kinerja beliau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558649" y="7674232"/>
            <a:ext cx="13170701" cy="2290168"/>
            <a:chOff x="0" y="0"/>
            <a:chExt cx="3468827" cy="6031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68827" cy="603172"/>
            </a:xfrm>
            <a:custGeom>
              <a:avLst/>
              <a:gdLst/>
              <a:ahLst/>
              <a:cxnLst/>
              <a:rect r="r" b="b" t="t" l="l"/>
              <a:pathLst>
                <a:path h="603172" w="3468827">
                  <a:moveTo>
                    <a:pt x="20573" y="0"/>
                  </a:moveTo>
                  <a:lnTo>
                    <a:pt x="3448253" y="0"/>
                  </a:lnTo>
                  <a:cubicBezTo>
                    <a:pt x="3459616" y="0"/>
                    <a:pt x="3468827" y="9211"/>
                    <a:pt x="3468827" y="20573"/>
                  </a:cubicBezTo>
                  <a:lnTo>
                    <a:pt x="3468827" y="582598"/>
                  </a:lnTo>
                  <a:cubicBezTo>
                    <a:pt x="3468827" y="593961"/>
                    <a:pt x="3459616" y="603172"/>
                    <a:pt x="3448253" y="603172"/>
                  </a:cubicBezTo>
                  <a:lnTo>
                    <a:pt x="20573" y="603172"/>
                  </a:lnTo>
                  <a:cubicBezTo>
                    <a:pt x="15117" y="603172"/>
                    <a:pt x="9884" y="601004"/>
                    <a:pt x="6026" y="597146"/>
                  </a:cubicBezTo>
                  <a:cubicBezTo>
                    <a:pt x="2168" y="593288"/>
                    <a:pt x="0" y="588055"/>
                    <a:pt x="0" y="582598"/>
                  </a:cubicBezTo>
                  <a:lnTo>
                    <a:pt x="0" y="20573"/>
                  </a:lnTo>
                  <a:cubicBezTo>
                    <a:pt x="0" y="15117"/>
                    <a:pt x="2168" y="9884"/>
                    <a:pt x="6026" y="6026"/>
                  </a:cubicBezTo>
                  <a:cubicBezTo>
                    <a:pt x="9884" y="2168"/>
                    <a:pt x="15117" y="0"/>
                    <a:pt x="205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468827" cy="660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402810" y="7874257"/>
            <a:ext cx="11484177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0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engan memanfaatkan teknik Natural Language Processing (NLP) dan Machine Learning untuk mengolah data dalam jumlah besar secara otomatis dan objektif. Metode TF-IDF digunakan untuk mengekstraksi fitur teks, kemudian membandingkan dua algoritma klasifikasi Naive Bayes dan SVM guna menentukan model terbaik dalam analisis sentimen publik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8778" y="-957555"/>
            <a:ext cx="11827450" cy="11932798"/>
            <a:chOff x="0" y="0"/>
            <a:chExt cx="3115049" cy="3142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5049" cy="3142795"/>
            </a:xfrm>
            <a:custGeom>
              <a:avLst/>
              <a:gdLst/>
              <a:ahLst/>
              <a:cxnLst/>
              <a:rect r="r" b="b" t="t" l="l"/>
              <a:pathLst>
                <a:path h="3142795" w="3115049">
                  <a:moveTo>
                    <a:pt x="0" y="0"/>
                  </a:moveTo>
                  <a:lnTo>
                    <a:pt x="3115049" y="0"/>
                  </a:lnTo>
                  <a:lnTo>
                    <a:pt x="3115049" y="3142795"/>
                  </a:lnTo>
                  <a:lnTo>
                    <a:pt x="0" y="3142795"/>
                  </a:lnTo>
                  <a:close/>
                </a:path>
              </a:pathLst>
            </a:custGeom>
            <a:solidFill>
              <a:srgbClr val="000000"/>
            </a:solidFill>
            <a:ln w="142875" cap="sq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115049" cy="3199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3242216" y="2107481"/>
            <a:ext cx="4000772" cy="4000772"/>
          </a:xfrm>
          <a:custGeom>
            <a:avLst/>
            <a:gdLst/>
            <a:ahLst/>
            <a:cxnLst/>
            <a:rect r="r" b="b" t="t" l="l"/>
            <a:pathLst>
              <a:path h="4000772" w="4000772">
                <a:moveTo>
                  <a:pt x="0" y="0"/>
                </a:moveTo>
                <a:lnTo>
                  <a:pt x="4000772" y="0"/>
                </a:lnTo>
                <a:lnTo>
                  <a:pt x="4000772" y="4000771"/>
                </a:lnTo>
                <a:lnTo>
                  <a:pt x="0" y="400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6891" y="390998"/>
            <a:ext cx="5640721" cy="9896002"/>
          </a:xfrm>
          <a:custGeom>
            <a:avLst/>
            <a:gdLst/>
            <a:ahLst/>
            <a:cxnLst/>
            <a:rect r="r" b="b" t="t" l="l"/>
            <a:pathLst>
              <a:path h="9896002" w="5640721">
                <a:moveTo>
                  <a:pt x="0" y="0"/>
                </a:moveTo>
                <a:lnTo>
                  <a:pt x="5640721" y="0"/>
                </a:lnTo>
                <a:lnTo>
                  <a:pt x="5640721" y="9896002"/>
                </a:lnTo>
                <a:lnTo>
                  <a:pt x="0" y="9896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50780" y="2370532"/>
            <a:ext cx="14188966" cy="8229600"/>
          </a:xfrm>
          <a:custGeom>
            <a:avLst/>
            <a:gdLst/>
            <a:ahLst/>
            <a:cxnLst/>
            <a:rect r="r" b="b" t="t" l="l"/>
            <a:pathLst>
              <a:path h="8229600" w="14188966">
                <a:moveTo>
                  <a:pt x="0" y="0"/>
                </a:moveTo>
                <a:lnTo>
                  <a:pt x="14188965" y="0"/>
                </a:lnTo>
                <a:lnTo>
                  <a:pt x="141889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2617" y="3085358"/>
            <a:ext cx="14307789" cy="4631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64"/>
              </a:lnSpc>
            </a:pPr>
            <a:r>
              <a:rPr lang="en-US" b="true" sz="16859" spc="33">
                <a:gradFill>
                  <a:gsLst>
                    <a:gs pos="0">
                      <a:srgbClr val="FABD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Diagram Alur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00812" y="538150"/>
            <a:ext cx="1919429" cy="566532"/>
            <a:chOff x="0" y="0"/>
            <a:chExt cx="2559239" cy="75537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559239" cy="755376"/>
              <a:chOff x="0" y="0"/>
              <a:chExt cx="505529" cy="1492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56468" y="0"/>
                    </a:moveTo>
                    <a:lnTo>
                      <a:pt x="449060" y="0"/>
                    </a:lnTo>
                    <a:cubicBezTo>
                      <a:pt x="464037" y="0"/>
                      <a:pt x="478400" y="5949"/>
                      <a:pt x="488990" y="16539"/>
                    </a:cubicBezTo>
                    <a:cubicBezTo>
                      <a:pt x="499579" y="27129"/>
                      <a:pt x="505529" y="41492"/>
                      <a:pt x="505529" y="56468"/>
                    </a:cubicBezTo>
                    <a:lnTo>
                      <a:pt x="505529" y="92742"/>
                    </a:lnTo>
                    <a:cubicBezTo>
                      <a:pt x="505529" y="107718"/>
                      <a:pt x="499579" y="122081"/>
                      <a:pt x="488990" y="132671"/>
                    </a:cubicBezTo>
                    <a:cubicBezTo>
                      <a:pt x="478400" y="143261"/>
                      <a:pt x="464037" y="149210"/>
                      <a:pt x="449060" y="149210"/>
                    </a:cubicBezTo>
                    <a:lnTo>
                      <a:pt x="56468" y="149210"/>
                    </a:lnTo>
                    <a:cubicBezTo>
                      <a:pt x="41492" y="149210"/>
                      <a:pt x="27129" y="143261"/>
                      <a:pt x="16539" y="132671"/>
                    </a:cubicBezTo>
                    <a:cubicBezTo>
                      <a:pt x="5949" y="122081"/>
                      <a:pt x="0" y="107718"/>
                      <a:pt x="0" y="92742"/>
                    </a:cubicBezTo>
                    <a:lnTo>
                      <a:pt x="0" y="56468"/>
                    </a:lnTo>
                    <a:cubicBezTo>
                      <a:pt x="0" y="41492"/>
                      <a:pt x="5949" y="27129"/>
                      <a:pt x="16539" y="16539"/>
                    </a:cubicBezTo>
                    <a:cubicBezTo>
                      <a:pt x="27129" y="5949"/>
                      <a:pt x="41492" y="0"/>
                      <a:pt x="5646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100000">
                    <a:srgbClr val="E000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32093" y="109293"/>
              <a:ext cx="189505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Page 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153133">
            <a:off x="-3359317" y="223572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0512" y="3012287"/>
            <a:ext cx="7544538" cy="1834674"/>
            <a:chOff x="0" y="0"/>
            <a:chExt cx="1987039" cy="4832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039" cy="483206"/>
            </a:xfrm>
            <a:custGeom>
              <a:avLst/>
              <a:gdLst/>
              <a:ahLst/>
              <a:cxnLst/>
              <a:rect r="r" b="b" t="t" l="l"/>
              <a:pathLst>
                <a:path h="483206" w="1987039">
                  <a:moveTo>
                    <a:pt x="35916" y="0"/>
                  </a:moveTo>
                  <a:lnTo>
                    <a:pt x="1951123" y="0"/>
                  </a:lnTo>
                  <a:cubicBezTo>
                    <a:pt x="1970959" y="0"/>
                    <a:pt x="1987039" y="16080"/>
                    <a:pt x="1987039" y="35916"/>
                  </a:cubicBezTo>
                  <a:lnTo>
                    <a:pt x="1987039" y="447291"/>
                  </a:lnTo>
                  <a:cubicBezTo>
                    <a:pt x="1987039" y="467126"/>
                    <a:pt x="1970959" y="483206"/>
                    <a:pt x="1951123" y="483206"/>
                  </a:cubicBezTo>
                  <a:lnTo>
                    <a:pt x="35916" y="483206"/>
                  </a:lnTo>
                  <a:cubicBezTo>
                    <a:pt x="16080" y="483206"/>
                    <a:pt x="0" y="467126"/>
                    <a:pt x="0" y="447291"/>
                  </a:cubicBezTo>
                  <a:lnTo>
                    <a:pt x="0" y="35916"/>
                  </a:lnTo>
                  <a:cubicBezTo>
                    <a:pt x="0" y="16080"/>
                    <a:pt x="16080" y="0"/>
                    <a:pt x="35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87039" cy="54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8220" y="2757185"/>
            <a:ext cx="2251215" cy="2251215"/>
            <a:chOff x="0" y="0"/>
            <a:chExt cx="3001620" cy="300162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001620" cy="300162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66675" cap="sq">
                <a:gradFill>
                  <a:gsLst>
                    <a:gs pos="0">
                      <a:srgbClr val="1100D6">
                        <a:alpha val="100000"/>
                      </a:srgbClr>
                    </a:gs>
                    <a:gs pos="100000">
                      <a:srgbClr val="E000F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415700" y="415700"/>
              <a:ext cx="2170220" cy="2170220"/>
            </a:xfrm>
            <a:custGeom>
              <a:avLst/>
              <a:gdLst/>
              <a:ahLst/>
              <a:cxnLst/>
              <a:rect r="r" b="b" t="t" l="l"/>
              <a:pathLst>
                <a:path h="2170220" w="2170220">
                  <a:moveTo>
                    <a:pt x="0" y="0"/>
                  </a:moveTo>
                  <a:lnTo>
                    <a:pt x="2170220" y="0"/>
                  </a:lnTo>
                  <a:lnTo>
                    <a:pt x="2170220" y="2170220"/>
                  </a:lnTo>
                  <a:lnTo>
                    <a:pt x="0" y="217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8210" y="1608437"/>
            <a:ext cx="11311235" cy="118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96"/>
              </a:lnSpc>
            </a:pPr>
            <a:r>
              <a:rPr lang="en-US" b="true" sz="7675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PRE-PROCESSING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39435" y="3097115"/>
            <a:ext cx="164046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02942" y="3520360"/>
            <a:ext cx="5648160" cy="11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8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penghapusan elemen-elemen yang tidak relevan seperti tanda baca, angka, URL, mention, hashtag, karakter khusus, dan emoji</a:t>
            </a:r>
          </a:p>
          <a:p>
            <a:pPr algn="just">
              <a:lnSpc>
                <a:spcPts val="2318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6153133">
            <a:off x="13013503" y="948977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69827" y="5370350"/>
            <a:ext cx="7544538" cy="1834674"/>
            <a:chOff x="0" y="0"/>
            <a:chExt cx="1987039" cy="4832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7039" cy="483206"/>
            </a:xfrm>
            <a:custGeom>
              <a:avLst/>
              <a:gdLst/>
              <a:ahLst/>
              <a:cxnLst/>
              <a:rect r="r" b="b" t="t" l="l"/>
              <a:pathLst>
                <a:path h="483206" w="1987039">
                  <a:moveTo>
                    <a:pt x="35916" y="0"/>
                  </a:moveTo>
                  <a:lnTo>
                    <a:pt x="1951123" y="0"/>
                  </a:lnTo>
                  <a:cubicBezTo>
                    <a:pt x="1970959" y="0"/>
                    <a:pt x="1987039" y="16080"/>
                    <a:pt x="1987039" y="35916"/>
                  </a:cubicBezTo>
                  <a:lnTo>
                    <a:pt x="1987039" y="447291"/>
                  </a:lnTo>
                  <a:cubicBezTo>
                    <a:pt x="1987039" y="467126"/>
                    <a:pt x="1970959" y="483206"/>
                    <a:pt x="1951123" y="483206"/>
                  </a:cubicBezTo>
                  <a:lnTo>
                    <a:pt x="35916" y="483206"/>
                  </a:lnTo>
                  <a:cubicBezTo>
                    <a:pt x="16080" y="483206"/>
                    <a:pt x="0" y="467126"/>
                    <a:pt x="0" y="447291"/>
                  </a:cubicBezTo>
                  <a:lnTo>
                    <a:pt x="0" y="35916"/>
                  </a:lnTo>
                  <a:cubicBezTo>
                    <a:pt x="0" y="16080"/>
                    <a:pt x="16080" y="0"/>
                    <a:pt x="35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87039" cy="54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03662" y="5162079"/>
            <a:ext cx="2251215" cy="2251215"/>
            <a:chOff x="0" y="0"/>
            <a:chExt cx="3001620" cy="300162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001620" cy="300162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66675" cap="sq">
                <a:gradFill>
                  <a:gsLst>
                    <a:gs pos="0">
                      <a:srgbClr val="1100D6">
                        <a:alpha val="100000"/>
                      </a:srgbClr>
                    </a:gs>
                    <a:gs pos="100000">
                      <a:srgbClr val="E000F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415700" y="415700"/>
              <a:ext cx="2170220" cy="2170220"/>
            </a:xfrm>
            <a:custGeom>
              <a:avLst/>
              <a:gdLst/>
              <a:ahLst/>
              <a:cxnLst/>
              <a:rect r="r" b="b" t="t" l="l"/>
              <a:pathLst>
                <a:path h="2170220" w="2170220">
                  <a:moveTo>
                    <a:pt x="0" y="0"/>
                  </a:moveTo>
                  <a:lnTo>
                    <a:pt x="2170220" y="0"/>
                  </a:lnTo>
                  <a:lnTo>
                    <a:pt x="2170220" y="2170220"/>
                  </a:lnTo>
                  <a:lnTo>
                    <a:pt x="0" y="217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37793" y="3051651"/>
            <a:ext cx="7544538" cy="1834674"/>
            <a:chOff x="0" y="0"/>
            <a:chExt cx="1987039" cy="4832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87039" cy="483206"/>
            </a:xfrm>
            <a:custGeom>
              <a:avLst/>
              <a:gdLst/>
              <a:ahLst/>
              <a:cxnLst/>
              <a:rect r="r" b="b" t="t" l="l"/>
              <a:pathLst>
                <a:path h="483206" w="1987039">
                  <a:moveTo>
                    <a:pt x="35916" y="0"/>
                  </a:moveTo>
                  <a:lnTo>
                    <a:pt x="1951123" y="0"/>
                  </a:lnTo>
                  <a:cubicBezTo>
                    <a:pt x="1970959" y="0"/>
                    <a:pt x="1987039" y="16080"/>
                    <a:pt x="1987039" y="35916"/>
                  </a:cubicBezTo>
                  <a:lnTo>
                    <a:pt x="1987039" y="447291"/>
                  </a:lnTo>
                  <a:cubicBezTo>
                    <a:pt x="1987039" y="467126"/>
                    <a:pt x="1970959" y="483206"/>
                    <a:pt x="1951123" y="483206"/>
                  </a:cubicBezTo>
                  <a:lnTo>
                    <a:pt x="35916" y="483206"/>
                  </a:lnTo>
                  <a:cubicBezTo>
                    <a:pt x="16080" y="483206"/>
                    <a:pt x="0" y="467126"/>
                    <a:pt x="0" y="447291"/>
                  </a:cubicBezTo>
                  <a:lnTo>
                    <a:pt x="0" y="35916"/>
                  </a:lnTo>
                  <a:cubicBezTo>
                    <a:pt x="0" y="16080"/>
                    <a:pt x="16080" y="0"/>
                    <a:pt x="35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987039" cy="54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666670" y="2757185"/>
            <a:ext cx="2251215" cy="2251215"/>
            <a:chOff x="0" y="0"/>
            <a:chExt cx="3001620" cy="300162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001620" cy="300162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66675" cap="sq">
                <a:gradFill>
                  <a:gsLst>
                    <a:gs pos="0">
                      <a:srgbClr val="1100D6">
                        <a:alpha val="100000"/>
                      </a:srgbClr>
                    </a:gs>
                    <a:gs pos="100000">
                      <a:srgbClr val="E000F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415700" y="415700"/>
              <a:ext cx="2170220" cy="2170220"/>
            </a:xfrm>
            <a:custGeom>
              <a:avLst/>
              <a:gdLst/>
              <a:ahLst/>
              <a:cxnLst/>
              <a:rect r="r" b="b" t="t" l="l"/>
              <a:pathLst>
                <a:path h="2170220" w="2170220">
                  <a:moveTo>
                    <a:pt x="0" y="0"/>
                  </a:moveTo>
                  <a:lnTo>
                    <a:pt x="2170220" y="0"/>
                  </a:lnTo>
                  <a:lnTo>
                    <a:pt x="2170220" y="2170220"/>
                  </a:lnTo>
                  <a:lnTo>
                    <a:pt x="0" y="217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016281" y="3145416"/>
            <a:ext cx="204540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NORMALISASI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51213" y="3568661"/>
            <a:ext cx="5648160" cy="59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8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menyamakan kata tidak baku, bahasa gaul, kata salah ketik ke bentuk standar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345188" y="5437025"/>
            <a:ext cx="7544538" cy="1834674"/>
            <a:chOff x="0" y="0"/>
            <a:chExt cx="1987039" cy="4832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87039" cy="483206"/>
            </a:xfrm>
            <a:custGeom>
              <a:avLst/>
              <a:gdLst/>
              <a:ahLst/>
              <a:cxnLst/>
              <a:rect r="r" b="b" t="t" l="l"/>
              <a:pathLst>
                <a:path h="483206" w="1987039">
                  <a:moveTo>
                    <a:pt x="35916" y="0"/>
                  </a:moveTo>
                  <a:lnTo>
                    <a:pt x="1951123" y="0"/>
                  </a:lnTo>
                  <a:cubicBezTo>
                    <a:pt x="1970959" y="0"/>
                    <a:pt x="1987039" y="16080"/>
                    <a:pt x="1987039" y="35916"/>
                  </a:cubicBezTo>
                  <a:lnTo>
                    <a:pt x="1987039" y="447291"/>
                  </a:lnTo>
                  <a:cubicBezTo>
                    <a:pt x="1987039" y="467126"/>
                    <a:pt x="1970959" y="483206"/>
                    <a:pt x="1951123" y="483206"/>
                  </a:cubicBezTo>
                  <a:lnTo>
                    <a:pt x="35916" y="483206"/>
                  </a:lnTo>
                  <a:cubicBezTo>
                    <a:pt x="16080" y="483206"/>
                    <a:pt x="0" y="467126"/>
                    <a:pt x="0" y="447291"/>
                  </a:cubicBezTo>
                  <a:lnTo>
                    <a:pt x="0" y="35916"/>
                  </a:lnTo>
                  <a:cubicBezTo>
                    <a:pt x="0" y="16080"/>
                    <a:pt x="16080" y="0"/>
                    <a:pt x="35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987039" cy="54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18384" y="5143500"/>
            <a:ext cx="2251215" cy="2251215"/>
            <a:chOff x="0" y="0"/>
            <a:chExt cx="3001620" cy="300162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3001620" cy="3001620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66675" cap="sq">
                <a:gradFill>
                  <a:gsLst>
                    <a:gs pos="0">
                      <a:srgbClr val="1100D6">
                        <a:alpha val="100000"/>
                      </a:srgbClr>
                    </a:gs>
                    <a:gs pos="100000">
                      <a:srgbClr val="E000F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415700" y="415700"/>
              <a:ext cx="2170220" cy="2170220"/>
            </a:xfrm>
            <a:custGeom>
              <a:avLst/>
              <a:gdLst/>
              <a:ahLst/>
              <a:cxnLst/>
              <a:rect r="r" b="b" t="t" l="l"/>
              <a:pathLst>
                <a:path h="2170220" w="2170220">
                  <a:moveTo>
                    <a:pt x="0" y="0"/>
                  </a:moveTo>
                  <a:lnTo>
                    <a:pt x="2170220" y="0"/>
                  </a:lnTo>
                  <a:lnTo>
                    <a:pt x="2170220" y="2170220"/>
                  </a:lnTo>
                  <a:lnTo>
                    <a:pt x="0" y="217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164615" y="7963672"/>
            <a:ext cx="7544538" cy="1834674"/>
            <a:chOff x="0" y="0"/>
            <a:chExt cx="1987039" cy="4832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87039" cy="483206"/>
            </a:xfrm>
            <a:custGeom>
              <a:avLst/>
              <a:gdLst/>
              <a:ahLst/>
              <a:cxnLst/>
              <a:rect r="r" b="b" t="t" l="l"/>
              <a:pathLst>
                <a:path h="483206" w="1987039">
                  <a:moveTo>
                    <a:pt x="35916" y="0"/>
                  </a:moveTo>
                  <a:lnTo>
                    <a:pt x="1951123" y="0"/>
                  </a:lnTo>
                  <a:cubicBezTo>
                    <a:pt x="1970959" y="0"/>
                    <a:pt x="1987039" y="16080"/>
                    <a:pt x="1987039" y="35916"/>
                  </a:cubicBezTo>
                  <a:lnTo>
                    <a:pt x="1987039" y="447291"/>
                  </a:lnTo>
                  <a:cubicBezTo>
                    <a:pt x="1987039" y="467126"/>
                    <a:pt x="1970959" y="483206"/>
                    <a:pt x="1951123" y="483206"/>
                  </a:cubicBezTo>
                  <a:lnTo>
                    <a:pt x="35916" y="483206"/>
                  </a:lnTo>
                  <a:cubicBezTo>
                    <a:pt x="16080" y="483206"/>
                    <a:pt x="0" y="467126"/>
                    <a:pt x="0" y="447291"/>
                  </a:cubicBezTo>
                  <a:lnTo>
                    <a:pt x="0" y="35916"/>
                  </a:lnTo>
                  <a:cubicBezTo>
                    <a:pt x="0" y="16080"/>
                    <a:pt x="16080" y="0"/>
                    <a:pt x="35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987039" cy="54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252323" y="7708570"/>
            <a:ext cx="2251215" cy="2251215"/>
            <a:chOff x="0" y="0"/>
            <a:chExt cx="3001620" cy="3001620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3001620" cy="3001620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66675" cap="sq">
                <a:gradFill>
                  <a:gsLst>
                    <a:gs pos="0">
                      <a:srgbClr val="1100D6">
                        <a:alpha val="100000"/>
                      </a:srgbClr>
                    </a:gs>
                    <a:gs pos="100000">
                      <a:srgbClr val="E000F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1"/>
                  </a:lnSpc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415700" y="415700"/>
              <a:ext cx="2170220" cy="2170220"/>
            </a:xfrm>
            <a:custGeom>
              <a:avLst/>
              <a:gdLst/>
              <a:ahLst/>
              <a:cxnLst/>
              <a:rect r="r" b="b" t="t" l="l"/>
              <a:pathLst>
                <a:path h="2170220" w="2170220">
                  <a:moveTo>
                    <a:pt x="0" y="0"/>
                  </a:moveTo>
                  <a:lnTo>
                    <a:pt x="2170220" y="0"/>
                  </a:lnTo>
                  <a:lnTo>
                    <a:pt x="2170220" y="2170220"/>
                  </a:lnTo>
                  <a:lnTo>
                    <a:pt x="0" y="217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326607" y="5620615"/>
            <a:ext cx="5715130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b="true" sz="1900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LOWERCASE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huruf diubah menjadi huruf kecil (</a:t>
            </a:r>
            <a:r>
              <a:rPr lang="en-US" sz="1900" i="true" spc="3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lowercase</a:t>
            </a: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untuk menghindari perbedaan makna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655598" y="8156245"/>
            <a:ext cx="5703757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b="true" sz="1900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EXTRA SPACE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menghapus spasi berlebih pada teks agar kalimat menjadi lebih rapi, konsisten, dan mudah diproses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61682" y="5770400"/>
            <a:ext cx="5715130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b="true" sz="1900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STOPWORD REMOVAL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Penghapusan kata-kata umum y</a:t>
            </a: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ng tidak memiliki makna penting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958993" y="1506427"/>
            <a:ext cx="14188966" cy="8229600"/>
          </a:xfrm>
          <a:custGeom>
            <a:avLst/>
            <a:gdLst/>
            <a:ahLst/>
            <a:cxnLst/>
            <a:rect r="r" b="b" t="t" l="l"/>
            <a:pathLst>
              <a:path h="8229600" w="14188966">
                <a:moveTo>
                  <a:pt x="0" y="0"/>
                </a:moveTo>
                <a:lnTo>
                  <a:pt x="14188965" y="0"/>
                </a:lnTo>
                <a:lnTo>
                  <a:pt x="141889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2902" y="1628367"/>
            <a:ext cx="14188966" cy="8229600"/>
          </a:xfrm>
          <a:custGeom>
            <a:avLst/>
            <a:gdLst/>
            <a:ahLst/>
            <a:cxnLst/>
            <a:rect r="r" b="b" t="t" l="l"/>
            <a:pathLst>
              <a:path h="8229600" w="14188966">
                <a:moveTo>
                  <a:pt x="0" y="0"/>
                </a:moveTo>
                <a:lnTo>
                  <a:pt x="14188965" y="0"/>
                </a:lnTo>
                <a:lnTo>
                  <a:pt x="141889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2014" y="1628367"/>
            <a:ext cx="9458922" cy="8107660"/>
            <a:chOff x="0" y="0"/>
            <a:chExt cx="2389136" cy="2047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136" cy="2047834"/>
            </a:xfrm>
            <a:custGeom>
              <a:avLst/>
              <a:gdLst/>
              <a:ahLst/>
              <a:cxnLst/>
              <a:rect r="r" b="b" t="t" l="l"/>
              <a:pathLst>
                <a:path h="2047834" w="2389136">
                  <a:moveTo>
                    <a:pt x="26191" y="0"/>
                  </a:moveTo>
                  <a:lnTo>
                    <a:pt x="2362944" y="0"/>
                  </a:lnTo>
                  <a:cubicBezTo>
                    <a:pt x="2369891" y="0"/>
                    <a:pt x="2376552" y="2759"/>
                    <a:pt x="2381464" y="7671"/>
                  </a:cubicBezTo>
                  <a:cubicBezTo>
                    <a:pt x="2386376" y="12583"/>
                    <a:pt x="2389136" y="19245"/>
                    <a:pt x="2389136" y="26191"/>
                  </a:cubicBezTo>
                  <a:lnTo>
                    <a:pt x="2389136" y="2021642"/>
                  </a:lnTo>
                  <a:cubicBezTo>
                    <a:pt x="2389136" y="2028589"/>
                    <a:pt x="2386376" y="2035250"/>
                    <a:pt x="2381464" y="2040162"/>
                  </a:cubicBezTo>
                  <a:cubicBezTo>
                    <a:pt x="2376552" y="2045074"/>
                    <a:pt x="2369891" y="2047834"/>
                    <a:pt x="2362944" y="2047834"/>
                  </a:cubicBezTo>
                  <a:lnTo>
                    <a:pt x="26191" y="2047834"/>
                  </a:lnTo>
                  <a:cubicBezTo>
                    <a:pt x="19245" y="2047834"/>
                    <a:pt x="12583" y="2045074"/>
                    <a:pt x="7671" y="2040162"/>
                  </a:cubicBezTo>
                  <a:cubicBezTo>
                    <a:pt x="2759" y="2035250"/>
                    <a:pt x="0" y="2028589"/>
                    <a:pt x="0" y="2021642"/>
                  </a:cubicBezTo>
                  <a:lnTo>
                    <a:pt x="0" y="26191"/>
                  </a:lnTo>
                  <a:cubicBezTo>
                    <a:pt x="0" y="19245"/>
                    <a:pt x="2759" y="12583"/>
                    <a:pt x="7671" y="7671"/>
                  </a:cubicBezTo>
                  <a:cubicBezTo>
                    <a:pt x="12583" y="2759"/>
                    <a:pt x="19245" y="0"/>
                    <a:pt x="26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59000"/>
                  </a:srgbClr>
                </a:gs>
                <a:gs pos="100000">
                  <a:srgbClr val="E000F4">
                    <a:alpha val="59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389136" cy="2104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08175" y="3607966"/>
            <a:ext cx="8326600" cy="5629917"/>
          </a:xfrm>
          <a:custGeom>
            <a:avLst/>
            <a:gdLst/>
            <a:ahLst/>
            <a:cxnLst/>
            <a:rect r="r" b="b" t="t" l="l"/>
            <a:pathLst>
              <a:path h="5629917" w="8326600">
                <a:moveTo>
                  <a:pt x="0" y="0"/>
                </a:moveTo>
                <a:lnTo>
                  <a:pt x="8326600" y="0"/>
                </a:lnTo>
                <a:lnTo>
                  <a:pt x="8326600" y="5629918"/>
                </a:lnTo>
                <a:lnTo>
                  <a:pt x="0" y="5629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57150" cap="rnd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round/>
          </a:ln>
        </p:spPr>
      </p:sp>
      <p:sp>
        <p:nvSpPr>
          <p:cNvPr name="TextBox 11" id="11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175" y="1719842"/>
            <a:ext cx="9008579" cy="188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48"/>
              </a:lnSpc>
            </a:pPr>
            <a:r>
              <a:rPr lang="en-US" b="true" sz="6382" spc="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LABELING DENGAN LEXICON BASED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45188" y="2280272"/>
            <a:ext cx="2290619" cy="153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5926" indent="-232963" lvl="1">
              <a:lnSpc>
                <a:spcPts val="3021"/>
              </a:lnSpc>
              <a:buFont typeface="Arial"/>
              <a:buChar char="•"/>
            </a:pPr>
            <a:r>
              <a:rPr lang="en-US" sz="2158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Frasa Positif</a:t>
            </a:r>
          </a:p>
          <a:p>
            <a:pPr algn="l" marL="465926" indent="-232963" lvl="1">
              <a:lnSpc>
                <a:spcPts val="3021"/>
              </a:lnSpc>
              <a:buFont typeface="Arial"/>
              <a:buChar char="•"/>
            </a:pPr>
            <a:r>
              <a:rPr lang="en-US" sz="2158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Frasa Negatif</a:t>
            </a:r>
          </a:p>
          <a:p>
            <a:pPr algn="l" marL="465926" indent="-232963" lvl="1">
              <a:lnSpc>
                <a:spcPts val="3021"/>
              </a:lnSpc>
              <a:buFont typeface="Arial"/>
              <a:buChar char="•"/>
            </a:pPr>
            <a:r>
              <a:rPr lang="en-US" sz="2158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Kata Positif</a:t>
            </a:r>
          </a:p>
          <a:p>
            <a:pPr algn="l" marL="465926" indent="-232963" lvl="1">
              <a:lnSpc>
                <a:spcPts val="3021"/>
              </a:lnSpc>
              <a:buFont typeface="Arial"/>
              <a:buChar char="•"/>
            </a:pPr>
            <a:r>
              <a:rPr lang="en-US" sz="2158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Kata Negatif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45188" y="3719995"/>
            <a:ext cx="5522330" cy="65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b="true" sz="365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Dengan sistem scoring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84329" y="1685531"/>
            <a:ext cx="7104735" cy="65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b="true" sz="3659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Kamus sentimen yang berisi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45188" y="4406147"/>
            <a:ext cx="7459528" cy="516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Deteksi frasa negatif – jika ditemukan frasa negatif, komentar langsung diberi label negatif (-1).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Deteksi frasa positif – jika ditemukan frasa positif, komentar diberi label positif (1).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Penanganan negasi – komentar yang mengandung pola seperti “tidak + kata positif” diklasifikasikan sebagai negatif.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Perhitungan skor kata – setiap kata positif menambah skor dan setiap kata negatif mengurangi skor.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Penentuan label akhir: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Skor ≥ 1 → Positif (1)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Skor ≤ -1 → Negatif (-1)</a:t>
            </a:r>
          </a:p>
          <a:p>
            <a:pPr algn="l" marL="450488" indent="-225244" lvl="1">
              <a:lnSpc>
                <a:spcPts val="2921"/>
              </a:lnSpc>
              <a:buFont typeface="Arial"/>
              <a:buChar char="•"/>
            </a:pPr>
            <a:r>
              <a:rPr lang="en-US" sz="208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Skor = 0 → Netral (0)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35527">
            <a:off x="15157270" y="-180406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08597">
            <a:off x="6149902" y="2748208"/>
            <a:ext cx="16230600" cy="5768626"/>
          </a:xfrm>
          <a:custGeom>
            <a:avLst/>
            <a:gdLst/>
            <a:ahLst/>
            <a:cxnLst/>
            <a:rect r="r" b="b" t="t" l="l"/>
            <a:pathLst>
              <a:path h="5768626" w="16230600">
                <a:moveTo>
                  <a:pt x="0" y="0"/>
                </a:moveTo>
                <a:lnTo>
                  <a:pt x="16230600" y="0"/>
                </a:lnTo>
                <a:lnTo>
                  <a:pt x="16230600" y="5768625"/>
                </a:lnTo>
                <a:lnTo>
                  <a:pt x="0" y="576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21221">
            <a:off x="-3252348" y="487947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2622" y="4085867"/>
            <a:ext cx="5730347" cy="2686100"/>
          </a:xfrm>
          <a:custGeom>
            <a:avLst/>
            <a:gdLst/>
            <a:ahLst/>
            <a:cxnLst/>
            <a:rect r="r" b="b" t="t" l="l"/>
            <a:pathLst>
              <a:path h="2686100" w="5730347">
                <a:moveTo>
                  <a:pt x="0" y="0"/>
                </a:moveTo>
                <a:lnTo>
                  <a:pt x="5730348" y="0"/>
                </a:lnTo>
                <a:lnTo>
                  <a:pt x="5730348" y="2686101"/>
                </a:lnTo>
                <a:lnTo>
                  <a:pt x="0" y="2686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233105"/>
            <a:ext cx="8678754" cy="6059491"/>
          </a:xfrm>
          <a:custGeom>
            <a:avLst/>
            <a:gdLst/>
            <a:ahLst/>
            <a:cxnLst/>
            <a:rect r="r" b="b" t="t" l="l"/>
            <a:pathLst>
              <a:path h="6059491" w="8678754">
                <a:moveTo>
                  <a:pt x="0" y="0"/>
                </a:moveTo>
                <a:lnTo>
                  <a:pt x="8678754" y="0"/>
                </a:lnTo>
                <a:lnTo>
                  <a:pt x="8678754" y="6059491"/>
                </a:lnTo>
                <a:lnTo>
                  <a:pt x="0" y="6059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1038457" y="1478247"/>
            <a:ext cx="8105543" cy="231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618"/>
              </a:lnSpc>
            </a:pPr>
            <a:r>
              <a:rPr lang="en-US" b="true" sz="8367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HASIL SENTIMEN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457" y="7084027"/>
            <a:ext cx="2826693" cy="16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769" indent="-334884" lvl="1">
              <a:lnSpc>
                <a:spcPts val="4343"/>
              </a:lnSpc>
              <a:buFont typeface="Arial"/>
              <a:buChar char="•"/>
            </a:pPr>
            <a:r>
              <a:rPr lang="en-US" b="true" sz="3102" spc="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  : Netral</a:t>
            </a:r>
          </a:p>
          <a:p>
            <a:pPr algn="l" marL="669769" indent="-334884" lvl="1">
              <a:lnSpc>
                <a:spcPts val="4343"/>
              </a:lnSpc>
              <a:buFont typeface="Arial"/>
              <a:buChar char="•"/>
            </a:pPr>
            <a:r>
              <a:rPr lang="en-US" b="true" sz="3102" spc="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   : Positif</a:t>
            </a:r>
          </a:p>
          <a:p>
            <a:pPr algn="l" marL="669769" indent="-334884" lvl="1">
              <a:lnSpc>
                <a:spcPts val="4343"/>
              </a:lnSpc>
              <a:buFont typeface="Arial"/>
              <a:buChar char="•"/>
            </a:pPr>
            <a:r>
              <a:rPr lang="en-US" b="true" sz="3102" spc="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-1 : Negatif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50593" y="2104967"/>
            <a:ext cx="9329273" cy="92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582"/>
              </a:lnSpc>
            </a:pPr>
            <a:r>
              <a:rPr lang="en-US" b="true" sz="6390" spc="1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Distribusi sentimen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8309143" y="1743784"/>
            <a:ext cx="61912" cy="7777474"/>
          </a:xfrm>
          <a:prstGeom prst="line">
            <a:avLst/>
          </a:prstGeom>
          <a:ln cap="flat" w="123825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1179" y="-440039"/>
            <a:ext cx="7992999" cy="8229600"/>
          </a:xfrm>
          <a:custGeom>
            <a:avLst/>
            <a:gdLst/>
            <a:ahLst/>
            <a:cxnLst/>
            <a:rect r="r" b="b" t="t" l="l"/>
            <a:pathLst>
              <a:path h="8229600" w="7992999">
                <a:moveTo>
                  <a:pt x="0" y="0"/>
                </a:moveTo>
                <a:lnTo>
                  <a:pt x="7992999" y="0"/>
                </a:lnTo>
                <a:lnTo>
                  <a:pt x="79929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395648" y="1060075"/>
            <a:ext cx="7992999" cy="8229600"/>
          </a:xfrm>
          <a:custGeom>
            <a:avLst/>
            <a:gdLst/>
            <a:ahLst/>
            <a:cxnLst/>
            <a:rect r="r" b="b" t="t" l="l"/>
            <a:pathLst>
              <a:path h="8229600" w="7992999">
                <a:moveTo>
                  <a:pt x="0" y="0"/>
                </a:moveTo>
                <a:lnTo>
                  <a:pt x="7992999" y="0"/>
                </a:lnTo>
                <a:lnTo>
                  <a:pt x="79929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4940" y="2396366"/>
            <a:ext cx="7573421" cy="3798834"/>
          </a:xfrm>
          <a:custGeom>
            <a:avLst/>
            <a:gdLst/>
            <a:ahLst/>
            <a:cxnLst/>
            <a:rect r="r" b="b" t="t" l="l"/>
            <a:pathLst>
              <a:path h="3798834" w="7573421">
                <a:moveTo>
                  <a:pt x="0" y="0"/>
                </a:moveTo>
                <a:lnTo>
                  <a:pt x="7573421" y="0"/>
                </a:lnTo>
                <a:lnTo>
                  <a:pt x="7573421" y="3798835"/>
                </a:lnTo>
                <a:lnTo>
                  <a:pt x="0" y="3798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27" r="-124" b="0"/>
            </a:stretch>
          </a:blipFill>
          <a:ln w="57150" cap="rnd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317216" y="5174875"/>
            <a:ext cx="4696410" cy="830903"/>
          </a:xfrm>
          <a:custGeom>
            <a:avLst/>
            <a:gdLst/>
            <a:ahLst/>
            <a:cxnLst/>
            <a:rect r="r" b="b" t="t" l="l"/>
            <a:pathLst>
              <a:path h="830903" w="4696410">
                <a:moveTo>
                  <a:pt x="0" y="0"/>
                </a:moveTo>
                <a:lnTo>
                  <a:pt x="4696411" y="0"/>
                </a:lnTo>
                <a:lnTo>
                  <a:pt x="4696411" y="830903"/>
                </a:lnTo>
                <a:lnTo>
                  <a:pt x="0" y="8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57150" cap="sq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94940" y="7130618"/>
            <a:ext cx="9312296" cy="2707540"/>
          </a:xfrm>
          <a:custGeom>
            <a:avLst/>
            <a:gdLst/>
            <a:ahLst/>
            <a:cxnLst/>
            <a:rect r="r" b="b" t="t" l="l"/>
            <a:pathLst>
              <a:path h="2707540" w="9312296">
                <a:moveTo>
                  <a:pt x="0" y="0"/>
                </a:moveTo>
                <a:lnTo>
                  <a:pt x="9312296" y="0"/>
                </a:lnTo>
                <a:lnTo>
                  <a:pt x="9312296" y="2707540"/>
                </a:lnTo>
                <a:lnTo>
                  <a:pt x="0" y="270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57150" cap="rnd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round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139783" y="7130618"/>
            <a:ext cx="4455719" cy="516277"/>
          </a:xfrm>
          <a:custGeom>
            <a:avLst/>
            <a:gdLst/>
            <a:ahLst/>
            <a:cxnLst/>
            <a:rect r="r" b="b" t="t" l="l"/>
            <a:pathLst>
              <a:path h="516277" w="4455719">
                <a:moveTo>
                  <a:pt x="0" y="0"/>
                </a:moveTo>
                <a:lnTo>
                  <a:pt x="4455719" y="0"/>
                </a:lnTo>
                <a:lnTo>
                  <a:pt x="4455719" y="516277"/>
                </a:lnTo>
                <a:lnTo>
                  <a:pt x="0" y="516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881" r="0" b="0"/>
            </a:stretch>
          </a:blipFill>
          <a:ln w="57150" cap="rnd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round/>
          </a:ln>
        </p:spPr>
      </p:sp>
      <p:sp>
        <p:nvSpPr>
          <p:cNvPr name="TextBox 11" id="11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17216" y="2354638"/>
            <a:ext cx="7834323" cy="257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6"/>
              </a:lnSpc>
              <a:spcBef>
                <a:spcPct val="0"/>
              </a:spcBef>
            </a:pPr>
            <a:r>
              <a:rPr lang="en-US" sz="2433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dibagi menjadi dua subset, yaitu 80% data training dan 20% data testing. Data training digunakan untuk melatih model dan mempelajari pola dari data, sedangkan data testing berfungsi untuk menguji performa model pada data yang belum pernah dilihat sebelumnya.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8273" y="1535586"/>
            <a:ext cx="6333287" cy="8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972"/>
              </a:lnSpc>
            </a:pPr>
            <a:r>
              <a:rPr lang="en-US" b="true" sz="5798" spc="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SPLIT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8273" y="6199312"/>
            <a:ext cx="6333287" cy="8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75"/>
              </a:lnSpc>
            </a:pPr>
            <a:r>
              <a:rPr lang="en-US" b="true" sz="5898" spc="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TF-IDF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57896" y="7722886"/>
            <a:ext cx="6101404" cy="166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0"/>
              </a:lnSpc>
              <a:spcBef>
                <a:spcPct val="0"/>
              </a:spcBef>
            </a:pPr>
            <a:r>
              <a:rPr lang="en-US" sz="2343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Teks dikonversi menjadi fitur numerik menggunakan TF-IDF dengan unigram dan bigram agar dapat diproses oleh model.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6022" y="2212034"/>
            <a:ext cx="15775956" cy="6951016"/>
            <a:chOff x="0" y="0"/>
            <a:chExt cx="4154984" cy="183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4984" cy="1830720"/>
            </a:xfrm>
            <a:custGeom>
              <a:avLst/>
              <a:gdLst/>
              <a:ahLst/>
              <a:cxnLst/>
              <a:rect r="r" b="b" t="t" l="l"/>
              <a:pathLst>
                <a:path h="1830720" w="4154984">
                  <a:moveTo>
                    <a:pt x="17176" y="0"/>
                  </a:moveTo>
                  <a:lnTo>
                    <a:pt x="4137808" y="0"/>
                  </a:lnTo>
                  <a:cubicBezTo>
                    <a:pt x="4142364" y="0"/>
                    <a:pt x="4146733" y="1810"/>
                    <a:pt x="4149954" y="5031"/>
                  </a:cubicBezTo>
                  <a:cubicBezTo>
                    <a:pt x="4153175" y="8252"/>
                    <a:pt x="4154984" y="12621"/>
                    <a:pt x="4154984" y="17176"/>
                  </a:cubicBezTo>
                  <a:lnTo>
                    <a:pt x="4154984" y="1813544"/>
                  </a:lnTo>
                  <a:cubicBezTo>
                    <a:pt x="4154984" y="1823030"/>
                    <a:pt x="4147295" y="1830720"/>
                    <a:pt x="4137808" y="1830720"/>
                  </a:cubicBezTo>
                  <a:lnTo>
                    <a:pt x="17176" y="1830720"/>
                  </a:lnTo>
                  <a:cubicBezTo>
                    <a:pt x="7690" y="1830720"/>
                    <a:pt x="0" y="1823030"/>
                    <a:pt x="0" y="1813544"/>
                  </a:cubicBezTo>
                  <a:lnTo>
                    <a:pt x="0" y="17176"/>
                  </a:lnTo>
                  <a:cubicBezTo>
                    <a:pt x="0" y="7690"/>
                    <a:pt x="7690" y="0"/>
                    <a:pt x="17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154984" cy="1887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44711" y="3082518"/>
            <a:ext cx="3213657" cy="3213657"/>
          </a:xfrm>
          <a:custGeom>
            <a:avLst/>
            <a:gdLst/>
            <a:ahLst/>
            <a:cxnLst/>
            <a:rect r="r" b="b" t="t" l="l"/>
            <a:pathLst>
              <a:path h="3213657" w="3213657">
                <a:moveTo>
                  <a:pt x="0" y="0"/>
                </a:moveTo>
                <a:lnTo>
                  <a:pt x="3213657" y="0"/>
                </a:lnTo>
                <a:lnTo>
                  <a:pt x="3213657" y="3213656"/>
                </a:lnTo>
                <a:lnTo>
                  <a:pt x="0" y="32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3250" y="4919451"/>
            <a:ext cx="3603901" cy="3603901"/>
          </a:xfrm>
          <a:custGeom>
            <a:avLst/>
            <a:gdLst/>
            <a:ahLst/>
            <a:cxnLst/>
            <a:rect r="r" b="b" t="t" l="l"/>
            <a:pathLst>
              <a:path h="3603901" w="3603901">
                <a:moveTo>
                  <a:pt x="0" y="0"/>
                </a:moveTo>
                <a:lnTo>
                  <a:pt x="3603900" y="0"/>
                </a:lnTo>
                <a:lnTo>
                  <a:pt x="3603900" y="3603900"/>
                </a:lnTo>
                <a:lnTo>
                  <a:pt x="0" y="3603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30650" y="5143500"/>
            <a:ext cx="5605233" cy="1376374"/>
          </a:xfrm>
          <a:custGeom>
            <a:avLst/>
            <a:gdLst/>
            <a:ahLst/>
            <a:cxnLst/>
            <a:rect r="r" b="b" t="t" l="l"/>
            <a:pathLst>
              <a:path h="1376374" w="5605233">
                <a:moveTo>
                  <a:pt x="0" y="0"/>
                </a:moveTo>
                <a:lnTo>
                  <a:pt x="5605233" y="0"/>
                </a:lnTo>
                <a:lnTo>
                  <a:pt x="5605233" y="1376374"/>
                </a:lnTo>
                <a:lnTo>
                  <a:pt x="0" y="137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76246" y="5122885"/>
            <a:ext cx="6268465" cy="1417603"/>
          </a:xfrm>
          <a:custGeom>
            <a:avLst/>
            <a:gdLst/>
            <a:ahLst/>
            <a:cxnLst/>
            <a:rect r="r" b="b" t="t" l="l"/>
            <a:pathLst>
              <a:path h="1417603" w="6268465">
                <a:moveTo>
                  <a:pt x="0" y="0"/>
                </a:moveTo>
                <a:lnTo>
                  <a:pt x="6268465" y="0"/>
                </a:lnTo>
                <a:lnTo>
                  <a:pt x="6268465" y="1417604"/>
                </a:lnTo>
                <a:lnTo>
                  <a:pt x="0" y="141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94435" y="2809492"/>
            <a:ext cx="11311235" cy="135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68"/>
              </a:lnSpc>
            </a:pPr>
            <a:r>
              <a:rPr lang="en-US" b="true" sz="8900" spc="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PELATIHAN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30650" y="6697368"/>
            <a:ext cx="5523714" cy="169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643" indent="-254821" lvl="1">
              <a:lnSpc>
                <a:spcPts val="3304"/>
              </a:lnSpc>
              <a:buFont typeface="Arial"/>
              <a:buChar char="•"/>
            </a:pPr>
            <a:r>
              <a:rPr lang="en-US" sz="236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Algoritma: MultinomialNB</a:t>
            </a:r>
          </a:p>
          <a:p>
            <a:pPr algn="l" marL="509643" indent="-254821" lvl="1">
              <a:lnSpc>
                <a:spcPts val="3304"/>
              </a:lnSpc>
              <a:buFont typeface="Arial"/>
              <a:buChar char="•"/>
            </a:pPr>
            <a:r>
              <a:rPr lang="en-US" sz="2360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Mengklasifikasikan komentar berdasarkan probabilitas suatu kelas sentimen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30650" y="4414391"/>
            <a:ext cx="291437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</a:pPr>
            <a:r>
              <a:rPr lang="en-US" b="true" sz="3500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NAIVE BAYES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76246" y="4414391"/>
            <a:ext cx="150771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0"/>
              </a:lnSpc>
            </a:pPr>
            <a:r>
              <a:rPr lang="en-US" b="true" sz="3500" spc="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SVM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245" y="6716418"/>
            <a:ext cx="6301003" cy="181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2871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Algoritma: LinearSVC</a:t>
            </a:r>
          </a:p>
          <a:p>
            <a:pPr algn="l" marL="442888" indent="-221444" lvl="1">
              <a:lnSpc>
                <a:spcPts val="2871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Max iterations: 2000</a:t>
            </a:r>
          </a:p>
          <a:p>
            <a:pPr algn="l" marL="442888" indent="-221444" lvl="1">
              <a:lnSpc>
                <a:spcPts val="2871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Mencari hyperplane optimal untuk memisahkan data ke dalam tiga kelas sentimen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35527">
            <a:off x="15157270" y="-180406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08597">
            <a:off x="6012098" y="2748208"/>
            <a:ext cx="16230600" cy="5768626"/>
          </a:xfrm>
          <a:custGeom>
            <a:avLst/>
            <a:gdLst/>
            <a:ahLst/>
            <a:cxnLst/>
            <a:rect r="r" b="b" t="t" l="l"/>
            <a:pathLst>
              <a:path h="5768626" w="16230600">
                <a:moveTo>
                  <a:pt x="0" y="0"/>
                </a:moveTo>
                <a:lnTo>
                  <a:pt x="16230600" y="0"/>
                </a:lnTo>
                <a:lnTo>
                  <a:pt x="16230600" y="5768625"/>
                </a:lnTo>
                <a:lnTo>
                  <a:pt x="0" y="576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21221">
            <a:off x="-3252348" y="487947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09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336" y="1995234"/>
            <a:ext cx="9509145" cy="215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72"/>
              </a:lnSpc>
            </a:pPr>
            <a:r>
              <a:rPr lang="en-US" b="true" sz="7837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EVALUASI </a:t>
            </a:r>
          </a:p>
          <a:p>
            <a:pPr algn="just" marL="0" indent="0" lvl="0">
              <a:lnSpc>
                <a:spcPts val="8072"/>
              </a:lnSpc>
            </a:pPr>
            <a:r>
              <a:rPr lang="en-US" b="true" sz="7837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3242" y="4048697"/>
            <a:ext cx="7990758" cy="59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4"/>
              </a:lnSpc>
            </a:pPr>
            <a:r>
              <a:rPr lang="en-US" sz="4140" spc="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NAIVE BAYES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99336" y="4873232"/>
            <a:ext cx="7374395" cy="3509629"/>
          </a:xfrm>
          <a:custGeom>
            <a:avLst/>
            <a:gdLst/>
            <a:ahLst/>
            <a:cxnLst/>
            <a:rect r="r" b="b" t="t" l="l"/>
            <a:pathLst>
              <a:path h="3509629" w="7374395">
                <a:moveTo>
                  <a:pt x="0" y="0"/>
                </a:moveTo>
                <a:lnTo>
                  <a:pt x="7374395" y="0"/>
                </a:lnTo>
                <a:lnTo>
                  <a:pt x="7374395" y="3509628"/>
                </a:lnTo>
                <a:lnTo>
                  <a:pt x="0" y="3509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43" r="-1395" b="0"/>
            </a:stretch>
          </a:blipFill>
          <a:ln w="38100" cap="sq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8750052" y="2305177"/>
            <a:ext cx="8785353" cy="560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7933" indent="-243967" lvl="1">
              <a:lnSpc>
                <a:spcPts val="3163"/>
              </a:lnSpc>
              <a:buFont typeface="Arial"/>
              <a:buChar char="•"/>
            </a:pPr>
            <a:r>
              <a:rPr lang="en-US" sz="225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Accuracy: 70,56% → Sebagian besar prediksi sentimen sesuai dengan data uji.</a:t>
            </a:r>
          </a:p>
          <a:p>
            <a:pPr algn="just" marL="487933" indent="-243967" lvl="1">
              <a:lnSpc>
                <a:spcPts val="3163"/>
              </a:lnSpc>
              <a:buFont typeface="Arial"/>
              <a:buChar char="•"/>
            </a:pPr>
            <a:r>
              <a:rPr lang="en-US" sz="225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Negatif: Precision tinggi (0,80) namun recall rendah (0,23), menandakan banyak komentar negatif belum terdeteksi.</a:t>
            </a:r>
          </a:p>
          <a:p>
            <a:pPr algn="just" marL="487933" indent="-243967" lvl="1">
              <a:lnSpc>
                <a:spcPts val="3163"/>
              </a:lnSpc>
              <a:buFont typeface="Arial"/>
              <a:buChar char="•"/>
            </a:pPr>
            <a:r>
              <a:rPr lang="en-US" sz="225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Netral &amp; Positif: Performa relatif stabil dengan F1-score masing-masing 0,72 dan 0,80.</a:t>
            </a:r>
          </a:p>
          <a:p>
            <a:pPr algn="just" marL="487933" indent="-243967" lvl="1">
              <a:lnSpc>
                <a:spcPts val="3163"/>
              </a:lnSpc>
              <a:buFont typeface="Arial"/>
              <a:buChar char="•"/>
            </a:pPr>
            <a:r>
              <a:rPr lang="en-US" sz="225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Macro F1: 0,62 dan Weighted F1: 0,68, menunjukkan performa keseluruhan cukup baik namun kurang optimal pada kelas negatif.</a:t>
            </a:r>
          </a:p>
          <a:p>
            <a:pPr algn="just" marL="487933" indent="-243967" lvl="1">
              <a:lnSpc>
                <a:spcPts val="3163"/>
              </a:lnSpc>
              <a:spcBef>
                <a:spcPct val="0"/>
              </a:spcBef>
              <a:buFont typeface="Arial"/>
              <a:buChar char="•"/>
            </a:pPr>
            <a:r>
              <a:rPr lang="en-US" sz="225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Kesimpulan: Naive Bayes efektif untuk sentimen netral dan positif, tetapi masih terbatas dalam mengenali sentimen negatif.</a:t>
            </a:r>
          </a:p>
          <a:p>
            <a:pPr algn="just">
              <a:lnSpc>
                <a:spcPts val="31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35527">
            <a:off x="15166795" y="-180406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08597">
            <a:off x="6012098" y="2748208"/>
            <a:ext cx="16230600" cy="5768626"/>
          </a:xfrm>
          <a:custGeom>
            <a:avLst/>
            <a:gdLst/>
            <a:ahLst/>
            <a:cxnLst/>
            <a:rect r="r" b="b" t="t" l="l"/>
            <a:pathLst>
              <a:path h="5768626" w="16230600">
                <a:moveTo>
                  <a:pt x="0" y="0"/>
                </a:moveTo>
                <a:lnTo>
                  <a:pt x="16230600" y="0"/>
                </a:lnTo>
                <a:lnTo>
                  <a:pt x="16230600" y="5768625"/>
                </a:lnTo>
                <a:lnTo>
                  <a:pt x="0" y="576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21221">
            <a:off x="-3252348" y="487947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336" y="1995234"/>
            <a:ext cx="9509145" cy="215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72"/>
              </a:lnSpc>
            </a:pPr>
            <a:r>
              <a:rPr lang="en-US" b="true" sz="7837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EVALUASI </a:t>
            </a:r>
          </a:p>
          <a:p>
            <a:pPr algn="just" marL="0" indent="0" lvl="0">
              <a:lnSpc>
                <a:spcPts val="8072"/>
              </a:lnSpc>
            </a:pPr>
            <a:r>
              <a:rPr lang="en-US" b="true" sz="7837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3242" y="4048697"/>
            <a:ext cx="7990758" cy="59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4"/>
              </a:lnSpc>
            </a:pPr>
            <a:r>
              <a:rPr lang="en-US" sz="4140" spc="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VECTORE MECHINE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50052" y="2048172"/>
            <a:ext cx="8650556" cy="721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298" indent="-244149" lvl="1">
              <a:lnSpc>
                <a:spcPts val="3166"/>
              </a:lnSpc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Accuracy: 81,11% → Sebagian besar komentar pada data uji berhasil diklasifikasikan dengan benar.</a:t>
            </a:r>
          </a:p>
          <a:p>
            <a:pPr algn="just" marL="488298" indent="-244149" lvl="1">
              <a:lnSpc>
                <a:spcPts val="3166"/>
              </a:lnSpc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Negatif: F1-score 0,71, menunjukkan SVM cukup baik dalam mengenali komentar negatif meskipun jumlah datanya sedikit.</a:t>
            </a:r>
          </a:p>
          <a:p>
            <a:pPr algn="just" marL="488298" indent="-244149" lvl="1">
              <a:lnSpc>
                <a:spcPts val="3166"/>
              </a:lnSpc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Netral: Performa sangat baik dengan F1-score 0,82, sesuai dengan dominasi kelas netral dalam dataset.</a:t>
            </a:r>
          </a:p>
          <a:p>
            <a:pPr algn="just" marL="488298" indent="-244149" lvl="1">
              <a:lnSpc>
                <a:spcPts val="3166"/>
              </a:lnSpc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Positif: Hasil terbaik dengan F1-score 0,85 dan recall tinggi, menandakan komentar positif teridentifikasi dengan baik.</a:t>
            </a:r>
          </a:p>
          <a:p>
            <a:pPr algn="just" marL="488298" indent="-244149" lvl="1">
              <a:lnSpc>
                <a:spcPts val="3166"/>
              </a:lnSpc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Macro F1: 0,79 dan Weighted F1: 0,81, menunjukkan performa model yang seimbang dan stabil di seluruh kelas.</a:t>
            </a:r>
          </a:p>
          <a:p>
            <a:pPr algn="just" marL="488298" indent="-244149" lvl="1">
              <a:lnSpc>
                <a:spcPts val="3166"/>
              </a:lnSpc>
              <a:spcBef>
                <a:spcPct val="0"/>
              </a:spcBef>
              <a:buFont typeface="Arial"/>
              <a:buChar char="•"/>
            </a:pPr>
            <a:r>
              <a:rPr lang="en-US" sz="226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Kesimpulan: SVM lebih efektif dibandingkan Naive Bayes dalam klasifikasi sentimen komentar YouTube berbasis TF-IDF.</a:t>
            </a:r>
          </a:p>
          <a:p>
            <a:pPr algn="just">
              <a:lnSpc>
                <a:spcPts val="3166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99336" y="4831622"/>
            <a:ext cx="7387475" cy="3601394"/>
          </a:xfrm>
          <a:custGeom>
            <a:avLst/>
            <a:gdLst/>
            <a:ahLst/>
            <a:cxnLst/>
            <a:rect r="r" b="b" t="t" l="l"/>
            <a:pathLst>
              <a:path h="3601394" w="7387475">
                <a:moveTo>
                  <a:pt x="0" y="0"/>
                </a:moveTo>
                <a:lnTo>
                  <a:pt x="7387475" y="0"/>
                </a:lnTo>
                <a:lnTo>
                  <a:pt x="7387475" y="3601394"/>
                </a:lnTo>
                <a:lnTo>
                  <a:pt x="0" y="3601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gradFill>
              <a:gsLst>
                <a:gs pos="0">
                  <a:srgbClr val="1100D6">
                    <a:alpha val="100000"/>
                  </a:srgbClr>
                </a:gs>
                <a:gs pos="50000">
                  <a:srgbClr val="E000F4">
                    <a:alpha val="100000"/>
                  </a:srgbClr>
                </a:gs>
                <a:gs pos="100000">
                  <a:srgbClr val="00ED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89959" y="3466866"/>
            <a:ext cx="8557484" cy="6262326"/>
            <a:chOff x="0" y="0"/>
            <a:chExt cx="2253823" cy="164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3823" cy="1649337"/>
            </a:xfrm>
            <a:custGeom>
              <a:avLst/>
              <a:gdLst/>
              <a:ahLst/>
              <a:cxnLst/>
              <a:rect r="r" b="b" t="t" l="l"/>
              <a:pathLst>
                <a:path h="1649337" w="2253823">
                  <a:moveTo>
                    <a:pt x="31664" y="0"/>
                  </a:moveTo>
                  <a:lnTo>
                    <a:pt x="2222159" y="0"/>
                  </a:lnTo>
                  <a:cubicBezTo>
                    <a:pt x="2230557" y="0"/>
                    <a:pt x="2238611" y="3336"/>
                    <a:pt x="2244549" y="9274"/>
                  </a:cubicBezTo>
                  <a:cubicBezTo>
                    <a:pt x="2250487" y="15212"/>
                    <a:pt x="2253823" y="23266"/>
                    <a:pt x="2253823" y="31664"/>
                  </a:cubicBezTo>
                  <a:lnTo>
                    <a:pt x="2253823" y="1617673"/>
                  </a:lnTo>
                  <a:cubicBezTo>
                    <a:pt x="2253823" y="1635160"/>
                    <a:pt x="2239646" y="1649337"/>
                    <a:pt x="2222159" y="1649337"/>
                  </a:cubicBezTo>
                  <a:lnTo>
                    <a:pt x="31664" y="1649337"/>
                  </a:lnTo>
                  <a:cubicBezTo>
                    <a:pt x="23266" y="1649337"/>
                    <a:pt x="15212" y="1646001"/>
                    <a:pt x="9274" y="1640063"/>
                  </a:cubicBezTo>
                  <a:cubicBezTo>
                    <a:pt x="3336" y="1634124"/>
                    <a:pt x="0" y="1626071"/>
                    <a:pt x="0" y="1617673"/>
                  </a:cubicBezTo>
                  <a:lnTo>
                    <a:pt x="0" y="31664"/>
                  </a:lnTo>
                  <a:cubicBezTo>
                    <a:pt x="0" y="14177"/>
                    <a:pt x="14177" y="0"/>
                    <a:pt x="316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53823" cy="1706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44711" y="3082518"/>
            <a:ext cx="3213657" cy="3213657"/>
          </a:xfrm>
          <a:custGeom>
            <a:avLst/>
            <a:gdLst/>
            <a:ahLst/>
            <a:cxnLst/>
            <a:rect r="r" b="b" t="t" l="l"/>
            <a:pathLst>
              <a:path h="3213657" w="3213657">
                <a:moveTo>
                  <a:pt x="0" y="0"/>
                </a:moveTo>
                <a:lnTo>
                  <a:pt x="3213657" y="0"/>
                </a:lnTo>
                <a:lnTo>
                  <a:pt x="3213657" y="3213656"/>
                </a:lnTo>
                <a:lnTo>
                  <a:pt x="0" y="32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3250" y="4919451"/>
            <a:ext cx="3603901" cy="3603901"/>
          </a:xfrm>
          <a:custGeom>
            <a:avLst/>
            <a:gdLst/>
            <a:ahLst/>
            <a:cxnLst/>
            <a:rect r="r" b="b" t="t" l="l"/>
            <a:pathLst>
              <a:path h="3603901" w="3603901">
                <a:moveTo>
                  <a:pt x="0" y="0"/>
                </a:moveTo>
                <a:lnTo>
                  <a:pt x="3603900" y="0"/>
                </a:lnTo>
                <a:lnTo>
                  <a:pt x="3603900" y="3603900"/>
                </a:lnTo>
                <a:lnTo>
                  <a:pt x="0" y="3603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80468" y="3967952"/>
            <a:ext cx="7552990" cy="5290348"/>
          </a:xfrm>
          <a:custGeom>
            <a:avLst/>
            <a:gdLst/>
            <a:ahLst/>
            <a:cxnLst/>
            <a:rect r="r" b="b" t="t" l="l"/>
            <a:pathLst>
              <a:path h="5290348" w="7552990">
                <a:moveTo>
                  <a:pt x="0" y="0"/>
                </a:moveTo>
                <a:lnTo>
                  <a:pt x="7552990" y="0"/>
                </a:lnTo>
                <a:lnTo>
                  <a:pt x="7552990" y="5290348"/>
                </a:lnTo>
                <a:lnTo>
                  <a:pt x="0" y="5290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1810" y="1982858"/>
            <a:ext cx="12549369" cy="113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42"/>
              </a:lnSpc>
            </a:pPr>
            <a:r>
              <a:rPr lang="en-US" b="true" sz="7448" spc="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PERBANDINGAN AKURASI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1185086">
            <a:off x="15130248" y="1773948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625976">
            <a:off x="-3522906" y="145740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46142" y="158808"/>
            <a:ext cx="16808901" cy="9462722"/>
          </a:xfrm>
          <a:custGeom>
            <a:avLst/>
            <a:gdLst/>
            <a:ahLst/>
            <a:cxnLst/>
            <a:rect r="r" b="b" t="t" l="l"/>
            <a:pathLst>
              <a:path h="9462722" w="16808901">
                <a:moveTo>
                  <a:pt x="0" y="0"/>
                </a:moveTo>
                <a:lnTo>
                  <a:pt x="16808901" y="0"/>
                </a:lnTo>
                <a:lnTo>
                  <a:pt x="16808901" y="9462722"/>
                </a:lnTo>
                <a:lnTo>
                  <a:pt x="0" y="9462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</a:blip>
            <a:stretch>
              <a:fillRect l="-189" t="-3417" r="-189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8500" y="3932980"/>
            <a:ext cx="16123104" cy="283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927"/>
              </a:lnSpc>
              <a:spcBef>
                <a:spcPct val="0"/>
              </a:spcBef>
            </a:pPr>
            <a:r>
              <a:rPr lang="en-US" b="true" sz="15662" spc="3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VISUALISASI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6022" y="1667992"/>
            <a:ext cx="15775956" cy="7988874"/>
            <a:chOff x="0" y="0"/>
            <a:chExt cx="4154984" cy="21040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4984" cy="2104066"/>
            </a:xfrm>
            <a:custGeom>
              <a:avLst/>
              <a:gdLst/>
              <a:ahLst/>
              <a:cxnLst/>
              <a:rect r="r" b="b" t="t" l="l"/>
              <a:pathLst>
                <a:path h="2104066" w="4154984">
                  <a:moveTo>
                    <a:pt x="17176" y="0"/>
                  </a:moveTo>
                  <a:lnTo>
                    <a:pt x="4137808" y="0"/>
                  </a:lnTo>
                  <a:cubicBezTo>
                    <a:pt x="4142364" y="0"/>
                    <a:pt x="4146733" y="1810"/>
                    <a:pt x="4149954" y="5031"/>
                  </a:cubicBezTo>
                  <a:cubicBezTo>
                    <a:pt x="4153175" y="8252"/>
                    <a:pt x="4154984" y="12621"/>
                    <a:pt x="4154984" y="17176"/>
                  </a:cubicBezTo>
                  <a:lnTo>
                    <a:pt x="4154984" y="2086890"/>
                  </a:lnTo>
                  <a:cubicBezTo>
                    <a:pt x="4154984" y="2096376"/>
                    <a:pt x="4147295" y="2104066"/>
                    <a:pt x="4137808" y="2104066"/>
                  </a:cubicBezTo>
                  <a:lnTo>
                    <a:pt x="17176" y="2104066"/>
                  </a:lnTo>
                  <a:cubicBezTo>
                    <a:pt x="7690" y="2104066"/>
                    <a:pt x="0" y="2096376"/>
                    <a:pt x="0" y="2086890"/>
                  </a:cubicBezTo>
                  <a:lnTo>
                    <a:pt x="0" y="17176"/>
                  </a:lnTo>
                  <a:cubicBezTo>
                    <a:pt x="0" y="7690"/>
                    <a:pt x="7690" y="0"/>
                    <a:pt x="17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154984" cy="21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44711" y="3082518"/>
            <a:ext cx="3213657" cy="3213657"/>
          </a:xfrm>
          <a:custGeom>
            <a:avLst/>
            <a:gdLst/>
            <a:ahLst/>
            <a:cxnLst/>
            <a:rect r="r" b="b" t="t" l="l"/>
            <a:pathLst>
              <a:path h="3213657" w="3213657">
                <a:moveTo>
                  <a:pt x="0" y="0"/>
                </a:moveTo>
                <a:lnTo>
                  <a:pt x="3213657" y="0"/>
                </a:lnTo>
                <a:lnTo>
                  <a:pt x="3213657" y="3213656"/>
                </a:lnTo>
                <a:lnTo>
                  <a:pt x="0" y="32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3250" y="4919451"/>
            <a:ext cx="3603901" cy="3603901"/>
          </a:xfrm>
          <a:custGeom>
            <a:avLst/>
            <a:gdLst/>
            <a:ahLst/>
            <a:cxnLst/>
            <a:rect r="r" b="b" t="t" l="l"/>
            <a:pathLst>
              <a:path h="3603901" w="3603901">
                <a:moveTo>
                  <a:pt x="0" y="0"/>
                </a:moveTo>
                <a:lnTo>
                  <a:pt x="3603900" y="0"/>
                </a:lnTo>
                <a:lnTo>
                  <a:pt x="3603900" y="3603900"/>
                </a:lnTo>
                <a:lnTo>
                  <a:pt x="0" y="3603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8273" y="2037426"/>
            <a:ext cx="14712621" cy="5303841"/>
          </a:xfrm>
          <a:custGeom>
            <a:avLst/>
            <a:gdLst/>
            <a:ahLst/>
            <a:cxnLst/>
            <a:rect r="r" b="b" t="t" l="l"/>
            <a:pathLst>
              <a:path h="5303841" w="14712621">
                <a:moveTo>
                  <a:pt x="0" y="0"/>
                </a:moveTo>
                <a:lnTo>
                  <a:pt x="14712621" y="0"/>
                </a:lnTo>
                <a:lnTo>
                  <a:pt x="14712621" y="5303841"/>
                </a:lnTo>
                <a:lnTo>
                  <a:pt x="0" y="530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51" t="-5932" r="0" b="-5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0462" y="7545398"/>
            <a:ext cx="5640974" cy="175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343" indent="-268172" lvl="1">
              <a:lnSpc>
                <a:spcPts val="3477"/>
              </a:lnSpc>
              <a:buFont typeface="Arial"/>
              <a:buChar char="•"/>
            </a:pP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Naive Bayes: Banyak misklasifikasi Negatif → Netral</a:t>
            </a:r>
          </a:p>
          <a:p>
            <a:pPr algn="l" marL="536343" indent="-268172" lvl="1">
              <a:lnSpc>
                <a:spcPts val="3477"/>
              </a:lnSpc>
              <a:buFont typeface="Arial"/>
              <a:buChar char="•"/>
            </a:pP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SVM: Lebih akurat di semua kelas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18869" y="7484553"/>
            <a:ext cx="7922025" cy="130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  <a:spcBef>
                <a:spcPct val="0"/>
              </a:spcBef>
            </a:pPr>
            <a:r>
              <a:rPr lang="en-US" b="true" sz="2573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573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nsight: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NB lemah mendeteksi sentimen negatif (recall 23%)</a:t>
            </a:r>
          </a:p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7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SVM lebih balanced (recall 74-90%)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6022" y="1667992"/>
            <a:ext cx="15775956" cy="8091354"/>
            <a:chOff x="0" y="0"/>
            <a:chExt cx="4154984" cy="2131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54984" cy="2131056"/>
            </a:xfrm>
            <a:custGeom>
              <a:avLst/>
              <a:gdLst/>
              <a:ahLst/>
              <a:cxnLst/>
              <a:rect r="r" b="b" t="t" l="l"/>
              <a:pathLst>
                <a:path h="2131056" w="4154984">
                  <a:moveTo>
                    <a:pt x="17176" y="0"/>
                  </a:moveTo>
                  <a:lnTo>
                    <a:pt x="4137808" y="0"/>
                  </a:lnTo>
                  <a:cubicBezTo>
                    <a:pt x="4142364" y="0"/>
                    <a:pt x="4146733" y="1810"/>
                    <a:pt x="4149954" y="5031"/>
                  </a:cubicBezTo>
                  <a:cubicBezTo>
                    <a:pt x="4153175" y="8252"/>
                    <a:pt x="4154984" y="12621"/>
                    <a:pt x="4154984" y="17176"/>
                  </a:cubicBezTo>
                  <a:lnTo>
                    <a:pt x="4154984" y="2113880"/>
                  </a:lnTo>
                  <a:cubicBezTo>
                    <a:pt x="4154984" y="2123366"/>
                    <a:pt x="4147295" y="2131056"/>
                    <a:pt x="4137808" y="2131056"/>
                  </a:cubicBezTo>
                  <a:lnTo>
                    <a:pt x="17176" y="2131056"/>
                  </a:lnTo>
                  <a:cubicBezTo>
                    <a:pt x="7690" y="2131056"/>
                    <a:pt x="0" y="2123366"/>
                    <a:pt x="0" y="2113880"/>
                  </a:cubicBezTo>
                  <a:lnTo>
                    <a:pt x="0" y="17176"/>
                  </a:lnTo>
                  <a:cubicBezTo>
                    <a:pt x="0" y="7690"/>
                    <a:pt x="7690" y="0"/>
                    <a:pt x="17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154984" cy="218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544711" y="3082518"/>
            <a:ext cx="3213657" cy="3213657"/>
          </a:xfrm>
          <a:custGeom>
            <a:avLst/>
            <a:gdLst/>
            <a:ahLst/>
            <a:cxnLst/>
            <a:rect r="r" b="b" t="t" l="l"/>
            <a:pathLst>
              <a:path h="3213657" w="3213657">
                <a:moveTo>
                  <a:pt x="0" y="0"/>
                </a:moveTo>
                <a:lnTo>
                  <a:pt x="3213657" y="0"/>
                </a:lnTo>
                <a:lnTo>
                  <a:pt x="3213657" y="3213656"/>
                </a:lnTo>
                <a:lnTo>
                  <a:pt x="0" y="32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3250" y="4919451"/>
            <a:ext cx="3603901" cy="3603901"/>
          </a:xfrm>
          <a:custGeom>
            <a:avLst/>
            <a:gdLst/>
            <a:ahLst/>
            <a:cxnLst/>
            <a:rect r="r" b="b" t="t" l="l"/>
            <a:pathLst>
              <a:path h="3603901" w="3603901">
                <a:moveTo>
                  <a:pt x="0" y="0"/>
                </a:moveTo>
                <a:lnTo>
                  <a:pt x="3603900" y="0"/>
                </a:lnTo>
                <a:lnTo>
                  <a:pt x="3603900" y="3603900"/>
                </a:lnTo>
                <a:lnTo>
                  <a:pt x="0" y="3603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0650" y="6018121"/>
            <a:ext cx="13326982" cy="87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344" indent="-268172" lvl="1">
              <a:lnSpc>
                <a:spcPts val="3477"/>
              </a:lnSpc>
              <a:buFont typeface="Arial"/>
              <a:buChar char="•"/>
            </a:pP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Word</a:t>
            </a: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cloud komentar positif menunjukkan kata yang paling sering muncul pada label sentimen positif.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97214" y="2329684"/>
            <a:ext cx="14712621" cy="3486585"/>
          </a:xfrm>
          <a:custGeom>
            <a:avLst/>
            <a:gdLst/>
            <a:ahLst/>
            <a:cxnLst/>
            <a:rect r="r" b="b" t="t" l="l"/>
            <a:pathLst>
              <a:path h="3486585" w="14712621">
                <a:moveTo>
                  <a:pt x="0" y="0"/>
                </a:moveTo>
                <a:lnTo>
                  <a:pt x="14712622" y="0"/>
                </a:lnTo>
                <a:lnTo>
                  <a:pt x="14712622" y="3486584"/>
                </a:lnTo>
                <a:lnTo>
                  <a:pt x="0" y="3486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30650" y="7098022"/>
            <a:ext cx="13679185" cy="1318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344" indent="-268172" lvl="1">
              <a:lnSpc>
                <a:spcPts val="3477"/>
              </a:lnSpc>
              <a:buFont typeface="Arial"/>
              <a:buChar char="•"/>
            </a:pP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Word</a:t>
            </a: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cloud kategori netral menggambarkan kata-kata yang sering digunakan dalam komentar yang tidak menunjukkan sentimen kuat, baik positif maupun negatif.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0650" y="8616073"/>
            <a:ext cx="13679185" cy="87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344" indent="-268172" lvl="1">
              <a:lnSpc>
                <a:spcPts val="3477"/>
              </a:lnSpc>
              <a:buFont typeface="Arial"/>
              <a:buChar char="•"/>
            </a:pP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Word</a:t>
            </a:r>
            <a:r>
              <a:rPr lang="en-US" sz="2484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cloud untuk sentimen negatif menunjukkan kata yang paling sering muncul dalam komentar bernada negatif.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3027289" y="2125652"/>
            <a:ext cx="10823800" cy="8147370"/>
          </a:xfrm>
          <a:custGeom>
            <a:avLst/>
            <a:gdLst/>
            <a:ahLst/>
            <a:cxnLst/>
            <a:rect r="r" b="b" t="t" l="l"/>
            <a:pathLst>
              <a:path h="8147370" w="10823800">
                <a:moveTo>
                  <a:pt x="0" y="8147370"/>
                </a:moveTo>
                <a:lnTo>
                  <a:pt x="10823800" y="8147370"/>
                </a:lnTo>
                <a:lnTo>
                  <a:pt x="10823800" y="0"/>
                </a:lnTo>
                <a:lnTo>
                  <a:pt x="0" y="0"/>
                </a:lnTo>
                <a:lnTo>
                  <a:pt x="0" y="81473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998" y="2142216"/>
            <a:ext cx="6932775" cy="6932775"/>
          </a:xfrm>
          <a:custGeom>
            <a:avLst/>
            <a:gdLst/>
            <a:ahLst/>
            <a:cxnLst/>
            <a:rect r="r" b="b" t="t" l="l"/>
            <a:pathLst>
              <a:path h="6932775" w="6932775">
                <a:moveTo>
                  <a:pt x="0" y="0"/>
                </a:moveTo>
                <a:lnTo>
                  <a:pt x="6932775" y="0"/>
                </a:lnTo>
                <a:lnTo>
                  <a:pt x="6932775" y="6932775"/>
                </a:lnTo>
                <a:lnTo>
                  <a:pt x="0" y="693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98984" y="1706466"/>
            <a:ext cx="16890032" cy="7804275"/>
            <a:chOff x="0" y="0"/>
            <a:chExt cx="4448403" cy="2055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8403" cy="2055447"/>
            </a:xfrm>
            <a:custGeom>
              <a:avLst/>
              <a:gdLst/>
              <a:ahLst/>
              <a:cxnLst/>
              <a:rect r="r" b="b" t="t" l="l"/>
              <a:pathLst>
                <a:path h="2055447" w="4448403">
                  <a:moveTo>
                    <a:pt x="16043" y="0"/>
                  </a:moveTo>
                  <a:lnTo>
                    <a:pt x="4432360" y="0"/>
                  </a:lnTo>
                  <a:cubicBezTo>
                    <a:pt x="4441221" y="0"/>
                    <a:pt x="4448403" y="7183"/>
                    <a:pt x="4448403" y="16043"/>
                  </a:cubicBezTo>
                  <a:lnTo>
                    <a:pt x="4448403" y="2039404"/>
                  </a:lnTo>
                  <a:cubicBezTo>
                    <a:pt x="4448403" y="2048264"/>
                    <a:pt x="4441221" y="2055447"/>
                    <a:pt x="4432360" y="2055447"/>
                  </a:cubicBezTo>
                  <a:lnTo>
                    <a:pt x="16043" y="2055447"/>
                  </a:lnTo>
                  <a:cubicBezTo>
                    <a:pt x="7183" y="2055447"/>
                    <a:pt x="0" y="2048264"/>
                    <a:pt x="0" y="2039404"/>
                  </a:cubicBezTo>
                  <a:lnTo>
                    <a:pt x="0" y="16043"/>
                  </a:lnTo>
                  <a:cubicBezTo>
                    <a:pt x="0" y="7183"/>
                    <a:pt x="7183" y="0"/>
                    <a:pt x="1604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8572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448403" cy="2112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85719" y="2887552"/>
            <a:ext cx="11301259" cy="6187439"/>
          </a:xfrm>
          <a:custGeom>
            <a:avLst/>
            <a:gdLst/>
            <a:ahLst/>
            <a:cxnLst/>
            <a:rect r="r" b="b" t="t" l="l"/>
            <a:pathLst>
              <a:path h="6187439" w="11301259">
                <a:moveTo>
                  <a:pt x="0" y="0"/>
                </a:moveTo>
                <a:lnTo>
                  <a:pt x="11301259" y="0"/>
                </a:lnTo>
                <a:lnTo>
                  <a:pt x="11301259" y="6187439"/>
                </a:lnTo>
                <a:lnTo>
                  <a:pt x="0" y="6187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26416" y="2310474"/>
            <a:ext cx="3071924" cy="368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  <a:spcBef>
                <a:spcPct val="0"/>
              </a:spcBef>
            </a:pP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5: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uang (373)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tidak (278)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setuju (153)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rupiah (187)</a:t>
            </a:r>
          </a:p>
          <a:p>
            <a:pPr algn="l">
              <a:lnSpc>
                <a:spcPts val="4176"/>
              </a:lnSpc>
              <a:spcBef>
                <a:spcPct val="0"/>
              </a:spcBef>
            </a:pPr>
            <a:r>
              <a:rPr lang="en-US" sz="2983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koruptor (86)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0577" y="1812033"/>
            <a:ext cx="16890032" cy="57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1" spc="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Menampilkan 20 kata paling sering muncul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86078">
            <a:off x="12596665" y="-3291171"/>
            <a:ext cx="14188966" cy="8229600"/>
          </a:xfrm>
          <a:custGeom>
            <a:avLst/>
            <a:gdLst/>
            <a:ahLst/>
            <a:cxnLst/>
            <a:rect r="r" b="b" t="t" l="l"/>
            <a:pathLst>
              <a:path h="8229600" w="14188966">
                <a:moveTo>
                  <a:pt x="0" y="0"/>
                </a:moveTo>
                <a:lnTo>
                  <a:pt x="14188965" y="0"/>
                </a:lnTo>
                <a:lnTo>
                  <a:pt x="141889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45188" y="2209340"/>
            <a:ext cx="6718902" cy="6824619"/>
          </a:xfrm>
          <a:custGeom>
            <a:avLst/>
            <a:gdLst/>
            <a:ahLst/>
            <a:cxnLst/>
            <a:rect r="r" b="b" t="t" l="l"/>
            <a:pathLst>
              <a:path h="6824619" w="6718902">
                <a:moveTo>
                  <a:pt x="0" y="0"/>
                </a:moveTo>
                <a:lnTo>
                  <a:pt x="6718902" y="0"/>
                </a:lnTo>
                <a:lnTo>
                  <a:pt x="6718902" y="6824619"/>
                </a:lnTo>
                <a:lnTo>
                  <a:pt x="0" y="6824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16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3231277">
            <a:off x="-2430434" y="8282853"/>
            <a:ext cx="9343656" cy="5419321"/>
          </a:xfrm>
          <a:custGeom>
            <a:avLst/>
            <a:gdLst/>
            <a:ahLst/>
            <a:cxnLst/>
            <a:rect r="r" b="b" t="t" l="l"/>
            <a:pathLst>
              <a:path h="5419321" w="9343656">
                <a:moveTo>
                  <a:pt x="0" y="0"/>
                </a:moveTo>
                <a:lnTo>
                  <a:pt x="9343657" y="0"/>
                </a:lnTo>
                <a:lnTo>
                  <a:pt x="9343657" y="5419321"/>
                </a:lnTo>
                <a:lnTo>
                  <a:pt x="0" y="5419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22788" y="4318251"/>
            <a:ext cx="8146345" cy="434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🟢 POSITIF</a:t>
            </a:r>
          </a:p>
          <a:p>
            <a:pPr algn="just">
              <a:lnSpc>
                <a:spcPts val="2660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</a:t>
            </a: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entar positif menekankan sosialisasi uang fisik berjalan baik, tidak membingungkan masyarakat, dan penambahan nilai rupiah berjalan lancar.</a:t>
            </a:r>
          </a:p>
          <a:p>
            <a:pPr algn="just">
              <a:lnSpc>
                <a:spcPts val="2660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⚪ NETRAL</a:t>
            </a:r>
          </a:p>
          <a:p>
            <a:pPr algn="just">
              <a:lnSpc>
                <a:spcPts val="2660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Komentar netral menyebutkan fakta sejarah dan informasi umum, seperti tahun 1970, pemerataan rakyat pelosok NKRI, tabungan di bank/kantor pos, dan nilai tukar rupiah.</a:t>
            </a:r>
          </a:p>
          <a:p>
            <a:pPr algn="just">
              <a:lnSpc>
                <a:spcPts val="2660"/>
              </a:lnSpc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🔴 NEGATIF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Komentar negatif menyoroti koruptor, kebiasaan menyimpan uang pribadi, dan kondisi ekonomi yang perlu diperbaiki, termasuk harga BBM dan sembako.</a:t>
            </a:r>
          </a:p>
          <a:p>
            <a:pPr algn="just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8273" y="2247440"/>
            <a:ext cx="7417444" cy="212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10"/>
              </a:lnSpc>
            </a:pPr>
            <a:r>
              <a:rPr lang="en-US" b="true" sz="7680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INTERPRETASI HASIL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822788" y="8637159"/>
            <a:ext cx="2190540" cy="731179"/>
            <a:chOff x="0" y="0"/>
            <a:chExt cx="576932" cy="1925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932" cy="192574"/>
            </a:xfrm>
            <a:custGeom>
              <a:avLst/>
              <a:gdLst/>
              <a:ahLst/>
              <a:cxnLst/>
              <a:rect r="r" b="b" t="t" l="l"/>
              <a:pathLst>
                <a:path h="192574" w="576932">
                  <a:moveTo>
                    <a:pt x="74219" y="0"/>
                  </a:moveTo>
                  <a:lnTo>
                    <a:pt x="502713" y="0"/>
                  </a:lnTo>
                  <a:cubicBezTo>
                    <a:pt x="543703" y="0"/>
                    <a:pt x="576932" y="33229"/>
                    <a:pt x="576932" y="74219"/>
                  </a:cubicBezTo>
                  <a:lnTo>
                    <a:pt x="576932" y="118355"/>
                  </a:lnTo>
                  <a:cubicBezTo>
                    <a:pt x="576932" y="159345"/>
                    <a:pt x="543703" y="192574"/>
                    <a:pt x="502713" y="192574"/>
                  </a:cubicBezTo>
                  <a:lnTo>
                    <a:pt x="74219" y="192574"/>
                  </a:lnTo>
                  <a:cubicBezTo>
                    <a:pt x="33229" y="192574"/>
                    <a:pt x="0" y="159345"/>
                    <a:pt x="0" y="118355"/>
                  </a:cubicBezTo>
                  <a:lnTo>
                    <a:pt x="0" y="74219"/>
                  </a:lnTo>
                  <a:cubicBezTo>
                    <a:pt x="0" y="33229"/>
                    <a:pt x="33229" y="0"/>
                    <a:pt x="742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76932" cy="249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spc="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 Slide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61146" y="8543075"/>
            <a:ext cx="925952" cy="919347"/>
            <a:chOff x="0" y="0"/>
            <a:chExt cx="289003" cy="2869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9003" cy="286941"/>
            </a:xfrm>
            <a:custGeom>
              <a:avLst/>
              <a:gdLst/>
              <a:ahLst/>
              <a:cxnLst/>
              <a:rect r="r" b="b" t="t" l="l"/>
              <a:pathLst>
                <a:path h="286941" w="289003">
                  <a:moveTo>
                    <a:pt x="143471" y="0"/>
                  </a:moveTo>
                  <a:lnTo>
                    <a:pt x="145532" y="0"/>
                  </a:lnTo>
                  <a:cubicBezTo>
                    <a:pt x="183583" y="0"/>
                    <a:pt x="220075" y="15116"/>
                    <a:pt x="246981" y="42022"/>
                  </a:cubicBezTo>
                  <a:cubicBezTo>
                    <a:pt x="273887" y="68928"/>
                    <a:pt x="289003" y="105420"/>
                    <a:pt x="289003" y="143471"/>
                  </a:cubicBezTo>
                  <a:lnTo>
                    <a:pt x="289003" y="143471"/>
                  </a:lnTo>
                  <a:cubicBezTo>
                    <a:pt x="289003" y="181521"/>
                    <a:pt x="273887" y="218014"/>
                    <a:pt x="246981" y="244920"/>
                  </a:cubicBezTo>
                  <a:cubicBezTo>
                    <a:pt x="220075" y="271826"/>
                    <a:pt x="183583" y="286941"/>
                    <a:pt x="145532" y="286941"/>
                  </a:cubicBezTo>
                  <a:lnTo>
                    <a:pt x="143471" y="286941"/>
                  </a:lnTo>
                  <a:cubicBezTo>
                    <a:pt x="105420" y="286941"/>
                    <a:pt x="68928" y="271826"/>
                    <a:pt x="42022" y="244920"/>
                  </a:cubicBezTo>
                  <a:cubicBezTo>
                    <a:pt x="15116" y="218014"/>
                    <a:pt x="0" y="181521"/>
                    <a:pt x="0" y="143471"/>
                  </a:cubicBezTo>
                  <a:lnTo>
                    <a:pt x="0" y="143471"/>
                  </a:lnTo>
                  <a:cubicBezTo>
                    <a:pt x="0" y="105420"/>
                    <a:pt x="15116" y="68928"/>
                    <a:pt x="42022" y="42022"/>
                  </a:cubicBezTo>
                  <a:cubicBezTo>
                    <a:pt x="68928" y="15116"/>
                    <a:pt x="105420" y="0"/>
                    <a:pt x="143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9003" cy="325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6778201" y="8789809"/>
            <a:ext cx="315151" cy="425879"/>
          </a:xfrm>
          <a:custGeom>
            <a:avLst/>
            <a:gdLst/>
            <a:ahLst/>
            <a:cxnLst/>
            <a:rect r="r" b="b" t="t" l="l"/>
            <a:pathLst>
              <a:path h="425879" w="315151">
                <a:moveTo>
                  <a:pt x="0" y="0"/>
                </a:moveTo>
                <a:lnTo>
                  <a:pt x="315151" y="0"/>
                </a:lnTo>
                <a:lnTo>
                  <a:pt x="315151" y="425879"/>
                </a:lnTo>
                <a:lnTo>
                  <a:pt x="0" y="425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159">
                <a:alpha val="100000"/>
              </a:srgbClr>
            </a:gs>
            <a:gs pos="50000">
              <a:srgbClr val="070029">
                <a:alpha val="100000"/>
              </a:srgbClr>
            </a:gs>
            <a:gs pos="100000">
              <a:srgbClr val="0057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17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173909" y="5143500"/>
            <a:ext cx="12619457" cy="7319285"/>
          </a:xfrm>
          <a:custGeom>
            <a:avLst/>
            <a:gdLst/>
            <a:ahLst/>
            <a:cxnLst/>
            <a:rect r="r" b="b" t="t" l="l"/>
            <a:pathLst>
              <a:path h="7319285" w="12619457">
                <a:moveTo>
                  <a:pt x="0" y="0"/>
                </a:moveTo>
                <a:lnTo>
                  <a:pt x="12619457" y="0"/>
                </a:lnTo>
                <a:lnTo>
                  <a:pt x="12619457" y="7319285"/>
                </a:lnTo>
                <a:lnTo>
                  <a:pt x="0" y="7319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016647" y="1798977"/>
            <a:ext cx="7859617" cy="7859617"/>
          </a:xfrm>
          <a:custGeom>
            <a:avLst/>
            <a:gdLst/>
            <a:ahLst/>
            <a:cxnLst/>
            <a:rect r="r" b="b" t="t" l="l"/>
            <a:pathLst>
              <a:path h="7859617" w="7859617">
                <a:moveTo>
                  <a:pt x="0" y="0"/>
                </a:moveTo>
                <a:lnTo>
                  <a:pt x="7859617" y="0"/>
                </a:lnTo>
                <a:lnTo>
                  <a:pt x="7859617" y="7859617"/>
                </a:lnTo>
                <a:lnTo>
                  <a:pt x="0" y="785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0607" y="4064831"/>
            <a:ext cx="14712621" cy="398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5563" indent="-302781" lvl="1">
              <a:lnSpc>
                <a:spcPts val="3926"/>
              </a:lnSpc>
              <a:buFont typeface="Arial"/>
              <a:buChar char="•"/>
            </a:pPr>
            <a:r>
              <a:rPr lang="en-US" sz="2804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Metode NLP dengan TF-IDF berhasil mengklasifikasikan sentimen komentar YouTube secara efektif.</a:t>
            </a:r>
          </a:p>
          <a:p>
            <a:pPr algn="just" marL="605563" indent="-302781" lvl="1">
              <a:lnSpc>
                <a:spcPts val="3926"/>
              </a:lnSpc>
              <a:buFont typeface="Arial"/>
              <a:buChar char="•"/>
            </a:pPr>
            <a:r>
              <a:rPr lang="en-US" sz="2804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SVM menunjukkan performa terbaik dibandingkan Naive Bayes dengan akurasi dan F1-score yang lebih tinggi.</a:t>
            </a:r>
          </a:p>
          <a:p>
            <a:pPr algn="just" marL="605563" indent="-302781" lvl="1">
              <a:lnSpc>
                <a:spcPts val="3926"/>
              </a:lnSpc>
              <a:buFont typeface="Arial"/>
              <a:buChar char="•"/>
            </a:pPr>
            <a:r>
              <a:rPr lang="en-US" sz="2804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Sentimen netral mendominasi, diikuti sentimen positif dan negatif.</a:t>
            </a:r>
          </a:p>
          <a:p>
            <a:pPr algn="just" marL="605563" indent="-302781" lvl="1">
              <a:lnSpc>
                <a:spcPts val="3926"/>
              </a:lnSpc>
              <a:buFont typeface="Arial"/>
              <a:buChar char="•"/>
            </a:pPr>
            <a:r>
              <a:rPr lang="en-US" sz="2804" spc="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Hasil analisis memberikan gambaran objektif terhadap persepsi masyarakat atas kebijakan yang dikaji.</a:t>
            </a:r>
          </a:p>
          <a:p>
            <a:pPr algn="just">
              <a:lnSpc>
                <a:spcPts val="392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28273" y="2764024"/>
            <a:ext cx="14444955" cy="112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910"/>
              </a:lnSpc>
            </a:pPr>
            <a:r>
              <a:rPr lang="en-US" b="true" sz="7680" spc="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63361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56468" y="0"/>
                  </a:moveTo>
                  <a:lnTo>
                    <a:pt x="449060" y="0"/>
                  </a:lnTo>
                  <a:cubicBezTo>
                    <a:pt x="464037" y="0"/>
                    <a:pt x="478400" y="5949"/>
                    <a:pt x="488990" y="16539"/>
                  </a:cubicBezTo>
                  <a:cubicBezTo>
                    <a:pt x="499579" y="27129"/>
                    <a:pt x="505529" y="41492"/>
                    <a:pt x="505529" y="56468"/>
                  </a:cubicBezTo>
                  <a:lnTo>
                    <a:pt x="505529" y="92742"/>
                  </a:lnTo>
                  <a:cubicBezTo>
                    <a:pt x="505529" y="107718"/>
                    <a:pt x="499579" y="122081"/>
                    <a:pt x="488990" y="132671"/>
                  </a:cubicBezTo>
                  <a:cubicBezTo>
                    <a:pt x="478400" y="143261"/>
                    <a:pt x="464037" y="149210"/>
                    <a:pt x="449060" y="149210"/>
                  </a:cubicBezTo>
                  <a:lnTo>
                    <a:pt x="56468" y="149210"/>
                  </a:lnTo>
                  <a:cubicBezTo>
                    <a:pt x="41492" y="149210"/>
                    <a:pt x="27129" y="143261"/>
                    <a:pt x="16539" y="132671"/>
                  </a:cubicBezTo>
                  <a:cubicBezTo>
                    <a:pt x="5949" y="122081"/>
                    <a:pt x="0" y="107718"/>
                    <a:pt x="0" y="92742"/>
                  </a:cubicBezTo>
                  <a:lnTo>
                    <a:pt x="0" y="56468"/>
                  </a:lnTo>
                  <a:cubicBezTo>
                    <a:pt x="0" y="41492"/>
                    <a:pt x="5949" y="27129"/>
                    <a:pt x="16539" y="16539"/>
                  </a:cubicBezTo>
                  <a:cubicBezTo>
                    <a:pt x="27129" y="5949"/>
                    <a:pt x="41492" y="0"/>
                    <a:pt x="564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100D6">
                    <a:alpha val="100000"/>
                  </a:srgbClr>
                </a:gs>
                <a:gs pos="100000">
                  <a:srgbClr val="E000F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8848" y="764266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2970" y="766479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593" y="766479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4177" y="764266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0249" y="70130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Page 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6255" y="3780657"/>
            <a:ext cx="17668675" cy="309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29"/>
              </a:lnSpc>
              <a:spcBef>
                <a:spcPct val="0"/>
              </a:spcBef>
            </a:pPr>
            <a:r>
              <a:rPr lang="en-US" b="true" sz="17163" spc="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8303147"/>
            <a:ext cx="16230600" cy="1115361"/>
            <a:chOff x="0" y="0"/>
            <a:chExt cx="4274726" cy="293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293758"/>
            </a:xfrm>
            <a:custGeom>
              <a:avLst/>
              <a:gdLst/>
              <a:ahLst/>
              <a:cxnLst/>
              <a:rect r="r" b="b" t="t" l="l"/>
              <a:pathLst>
                <a:path h="293758" w="4274726">
                  <a:moveTo>
                    <a:pt x="13356" y="0"/>
                  </a:moveTo>
                  <a:lnTo>
                    <a:pt x="4261370" y="0"/>
                  </a:lnTo>
                  <a:cubicBezTo>
                    <a:pt x="4264912" y="0"/>
                    <a:pt x="4268309" y="1407"/>
                    <a:pt x="4270814" y="3912"/>
                  </a:cubicBezTo>
                  <a:cubicBezTo>
                    <a:pt x="4273319" y="6417"/>
                    <a:pt x="4274726" y="9814"/>
                    <a:pt x="4274726" y="13356"/>
                  </a:cubicBezTo>
                  <a:lnTo>
                    <a:pt x="4274726" y="280402"/>
                  </a:lnTo>
                  <a:cubicBezTo>
                    <a:pt x="4274726" y="283944"/>
                    <a:pt x="4273319" y="287341"/>
                    <a:pt x="4270814" y="289846"/>
                  </a:cubicBezTo>
                  <a:cubicBezTo>
                    <a:pt x="4268309" y="292350"/>
                    <a:pt x="4264912" y="293758"/>
                    <a:pt x="4261370" y="293758"/>
                  </a:cubicBezTo>
                  <a:lnTo>
                    <a:pt x="13356" y="293758"/>
                  </a:lnTo>
                  <a:cubicBezTo>
                    <a:pt x="9814" y="293758"/>
                    <a:pt x="6417" y="292350"/>
                    <a:pt x="3912" y="289846"/>
                  </a:cubicBezTo>
                  <a:cubicBezTo>
                    <a:pt x="1407" y="287341"/>
                    <a:pt x="0" y="283944"/>
                    <a:pt x="0" y="280402"/>
                  </a:cubicBezTo>
                  <a:lnTo>
                    <a:pt x="0" y="13356"/>
                  </a:lnTo>
                  <a:cubicBezTo>
                    <a:pt x="0" y="9814"/>
                    <a:pt x="1407" y="6417"/>
                    <a:pt x="3912" y="3912"/>
                  </a:cubicBezTo>
                  <a:cubicBezTo>
                    <a:pt x="6417" y="1407"/>
                    <a:pt x="9814" y="0"/>
                    <a:pt x="133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159">
                    <a:alpha val="100000"/>
                  </a:srgbClr>
                </a:gs>
                <a:gs pos="50000">
                  <a:srgbClr val="070029">
                    <a:alpha val="100000"/>
                  </a:srgbClr>
                </a:gs>
                <a:gs pos="100000">
                  <a:srgbClr val="0057FF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100D6">
                      <a:alpha val="100000"/>
                    </a:srgbClr>
                  </a:gs>
                  <a:gs pos="50000">
                    <a:srgbClr val="E000F4">
                      <a:alpha val="100000"/>
                    </a:srgbClr>
                  </a:gs>
                  <a:gs pos="100000">
                    <a:srgbClr val="00EDF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274726" cy="350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45810" y="8636882"/>
            <a:ext cx="1581349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Variesa Sabita Mumtaza Habib (24031554083) | Sabrina Putri Amalia (24031554055) | Kartika Nur Savira (24031554049)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1185086">
            <a:off x="15130248" y="1773948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625976">
            <a:off x="-3522906" y="1457403"/>
            <a:ext cx="7056882" cy="8229600"/>
          </a:xfrm>
          <a:custGeom>
            <a:avLst/>
            <a:gdLst/>
            <a:ahLst/>
            <a:cxnLst/>
            <a:rect r="r" b="b" t="t" l="l"/>
            <a:pathLst>
              <a:path h="8229600" w="7056882">
                <a:moveTo>
                  <a:pt x="0" y="0"/>
                </a:moveTo>
                <a:lnTo>
                  <a:pt x="7056882" y="0"/>
                </a:lnTo>
                <a:lnTo>
                  <a:pt x="7056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6998" y="824278"/>
            <a:ext cx="1662550" cy="30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7"/>
              </a:lnSpc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DAG7mZ2IlzU</dc:identifier>
  <dcterms:modified xsi:type="dcterms:W3CDTF">2011-08-01T06:04:30Z</dcterms:modified>
  <cp:revision>1</cp:revision>
  <dc:title>Analisis Sentimen</dc:title>
</cp:coreProperties>
</file>